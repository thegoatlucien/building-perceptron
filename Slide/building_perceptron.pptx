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4DC69-0F00-4EF9-A680-88A14869A2C1}" type="datetimeFigureOut">
              <a:rPr lang="fr-FR" smtClean="0"/>
              <a:t>08/10/2026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D8499-99B9-4A23-BF5F-824B5552B8DF}" type="slidenum">
              <a:rPr lang="fr-FR" smtClean="0"/>
              <a:t>‹N°›</a:t>
            </a:fld>
            <a:endParaRPr lang="fr-FR"/>
          </a:p>
        </p:txBody>
      </p:sp>
    </p:spTree>
    <p:extLst>
      <p:ext uri="{BB962C8B-B14F-4D97-AF65-F5344CB8AC3E}">
        <p14:creationId xmlns:p14="http://schemas.microsoft.com/office/powerpoint/2010/main" val="2307193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Presenter le contexte du projet et annoncer le parcours : implementation, controles, exploration, preparation, modelisation et evaluation. Il ne s agit pas de valider un outil medical.</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1</a:t>
            </a:fld>
            <a:endParaRPr lang="fr-FR"/>
          </a:p>
        </p:txBody>
      </p:sp>
    </p:spTree>
    <p:extLst>
      <p:ext uri="{BB962C8B-B14F-4D97-AF65-F5344CB8AC3E}">
        <p14:creationId xmlns:p14="http://schemas.microsoft.com/office/powerpoint/2010/main" val="2605969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score est une somme ponderee des entrees plus le biais. La sortie vaut 1 si le score est positif ou nul. Les poids et le biais sont initialises a zero puis corriges apres chaque erreur. Expliquer fit, net_input, predict et errors_. Une frontiere lineaire ne peut pas resoudre tous les problemes.</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2</a:t>
            </a:fld>
            <a:endParaRPr lang="fr-FR"/>
          </a:p>
        </p:txBody>
      </p:sp>
    </p:spTree>
    <p:extLst>
      <p:ext uri="{BB962C8B-B14F-4D97-AF65-F5344CB8AC3E}">
        <p14:creationId xmlns:p14="http://schemas.microsoft.com/office/powerpoint/2010/main" val="850896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AND donne 1 seulement pour deux entrees a 1. Les assertions du notebook passent. Pour XOR, les points de meme classe occupent des coins opposes : aucune droite ne peut les separer. Les 2 erreurs finales ne sont pas les 4 corrections faites pendant certaines passes.</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3</a:t>
            </a:fld>
            <a:endParaRPr lang="fr-FR"/>
          </a:p>
        </p:txBody>
      </p:sp>
    </p:spTree>
    <p:extLst>
      <p:ext uri="{BB962C8B-B14F-4D97-AF65-F5344CB8AC3E}">
        <p14:creationId xmlns:p14="http://schemas.microsoft.com/office/powerpoint/2010/main" val="4232936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Deux nuages distincts, graine 42, dispersion 0.8. Le modele apprend sur 90 points, puis est teste sur 30 autres. Les deux scores valent 100 %, ce qui est coherent avec la construction simple et separable; ce resultat ne se transpose pas au jeu medical.</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4</a:t>
            </a:fld>
            <a:endParaRPr lang="fr-FR"/>
          </a:p>
        </p:txBody>
      </p:sp>
    </p:spTree>
    <p:extLst>
      <p:ext uri="{BB962C8B-B14F-4D97-AF65-F5344CB8AC3E}">
        <p14:creationId xmlns:p14="http://schemas.microsoft.com/office/powerpoint/2010/main" val="4105459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Comparer eta 0.01, 0.1 et 1 dans le meme ordre. Avec initialisation a zero et taux positif constant, les poids et le biais sont multiplies par eta sans changer le signe des scores en arithmetique exacte. Ce resultat est propre a cette implementation, pas a tous les algorithmes.</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5</a:t>
            </a:fld>
            <a:endParaRPr lang="fr-FR"/>
          </a:p>
        </p:txBody>
      </p:sp>
    </p:spTree>
    <p:extLst>
      <p:ext uri="{BB962C8B-B14F-4D97-AF65-F5344CB8AC3E}">
        <p14:creationId xmlns:p14="http://schemas.microsoft.com/office/powerpoint/2010/main" val="360483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jeu UCI repris par scikit-learn contient des mesures de noyaux cellulaires. Le notebook recode 0 benigne et 1 maligne, contrairement au codage original. Aucun manque ni doublon : ne pas inventer un nettoyage. Conserver les observations atypiques sans justification de leur suppression.</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6</a:t>
            </a:fld>
            <a:endParaRPr lang="fr-FR"/>
          </a:p>
        </p:txBody>
      </p:sp>
    </p:spTree>
    <p:extLst>
      <p:ext uri="{BB962C8B-B14F-4D97-AF65-F5344CB8AC3E}">
        <p14:creationId xmlns:p14="http://schemas.microsoft.com/office/powerpoint/2010/main" val="1901359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Lire chaque axe et la mediane dans la boite, qui couvre les 50 % centraux. Le rayon et les points concaves separent plus nettement les classes que la texture, sans separation parfaite. Trois exemples illustratifs : pas une selection des meilleures variables et pas une preuve causale.</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7</a:t>
            </a:fld>
            <a:endParaRPr lang="fr-FR"/>
          </a:p>
        </p:txBody>
      </p:sp>
    </p:spTree>
    <p:extLst>
      <p:ext uri="{BB962C8B-B14F-4D97-AF65-F5344CB8AC3E}">
        <p14:creationId xmlns:p14="http://schemas.microsoft.com/office/powerpoint/2010/main" val="1582682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Pearson : +1 association lineaire positive, -1 negative, 0 faible association lineaire. La diagonale vaut 1. Rayon, perimetre et aire sont lies. La standardisation vient des echelles differentes; la redondance motive une comparaison avec ACP, pas une suppression automatique.</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8</a:t>
            </a:fld>
            <a:endParaRPr lang="fr-FR"/>
          </a:p>
        </p:txBody>
      </p:sp>
    </p:spTree>
    <p:extLst>
      <p:ext uri="{BB962C8B-B14F-4D97-AF65-F5344CB8AC3E}">
        <p14:creationId xmlns:p14="http://schemas.microsoft.com/office/powerpoint/2010/main" val="1470212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X exclut target et y contient le diagnostic. Le tirage stratife 80/20 utilise random_state 42. Le standardiseur et l ACP sont ajustes seulement sur les 455 observations d apprentissage et appliques au test. L EDA ayant vu le jeu complet, l evaluation demeure exploratoire.</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9</a:t>
            </a:fld>
            <a:endParaRPr lang="fr-FR"/>
          </a:p>
        </p:txBody>
      </p:sp>
    </p:spTree>
    <p:extLst>
      <p:ext uri="{BB962C8B-B14F-4D97-AF65-F5344CB8AC3E}">
        <p14:creationId xmlns:p14="http://schemas.microsoft.com/office/powerpoint/2010/main" val="2561944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composantes sont des combinaisons des 30 mesures. L ACP ne regarde pas y. Le seuil 95 % concerne la variance, pas la performance de classification. Dix composantes suffisent ici. Lire le cumul et le seuil rouge; la courbe est limitee aux composantes retenues.</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10</a:t>
            </a:fld>
            <a:endParaRPr lang="fr-FR"/>
          </a:p>
        </p:txBody>
      </p:sp>
    </p:spTree>
    <p:extLst>
      <p:ext uri="{BB962C8B-B14F-4D97-AF65-F5344CB8AC3E}">
        <p14:creationId xmlns:p14="http://schemas.microsoft.com/office/powerpoint/2010/main" val="3019489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Lignes : vrais diagnostics. Colonnes : predictions. Diagonale : correct. En haut a droite : fausse alerte. En bas a gauche : cas malin manque. Sans ACP : 70,2 / 4,38. Avec ACP : 71,1 / 2,40. Expliquer pourquoi le rappel malin est essentiel au-dela de l accuracy.</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11</a:t>
            </a:fld>
            <a:endParaRPr lang="fr-FR"/>
          </a:p>
        </p:txBody>
      </p:sp>
    </p:spTree>
    <p:extLst>
      <p:ext uri="{BB962C8B-B14F-4D97-AF65-F5344CB8AC3E}">
        <p14:creationId xmlns:p14="http://schemas.microsoft.com/office/powerpoint/2010/main" val="848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erreurs en ligne sont comptees au moment de chaque prediction pendant fit. Les poids evoluent dans chaque passe, ce qui explique des fluctuations. Moins de corrections sur l apprentissage ne garantit pas une meilleure generalisation; ici l ACP a plus de corrections finales mais moins d erreurs de test.</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12</a:t>
            </a:fld>
            <a:endParaRPr lang="fr-FR"/>
          </a:p>
        </p:txBody>
      </p:sp>
    </p:spTree>
    <p:extLst>
      <p:ext uri="{BB962C8B-B14F-4D97-AF65-F5344CB8AC3E}">
        <p14:creationId xmlns:p14="http://schemas.microsoft.com/office/powerpoint/2010/main" val="2604827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Precision : parmi les alertes, part correcte. Rappel : part des vrais cas retrouves. F1 combine precision et rappel. Les deux modeles avec ACP ont 97.4 % d accuracy, mais le perceptron rate 2 cas malins contre 3 pour la regression logistique. Aucune superiorite generale n est demontree par ce seul test.</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13</a:t>
            </a:fld>
            <a:endParaRPr lang="fr-FR"/>
          </a:p>
        </p:txBody>
      </p:sp>
    </p:spTree>
    <p:extLst>
      <p:ext uri="{BB962C8B-B14F-4D97-AF65-F5344CB8AC3E}">
        <p14:creationId xmlns:p14="http://schemas.microsoft.com/office/powerpoint/2010/main" val="1638734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Conclure sur la construction de la classe et les resultats. AND et les nuages sont appris, XOR montre la limite lineaire. L ACP ameliore ici le perceptron mais un seul test ne suffit pas. L EDA a examine le jeu complet et le test compare plusieurs configurations : il faut une validation croisee dans l apprentissage et un nouveau test final reserve pour une conclusion confirmatoire.</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14</a:t>
            </a:fld>
            <a:endParaRPr lang="fr-FR"/>
          </a:p>
        </p:txBody>
      </p:sp>
    </p:spTree>
    <p:extLst>
      <p:ext uri="{BB962C8B-B14F-4D97-AF65-F5344CB8AC3E}">
        <p14:creationId xmlns:p14="http://schemas.microsoft.com/office/powerpoint/2010/main" val="95951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README contient les references completes et les commandes pour reproduire le travail. Montrer le notebook unique, le script de la classe, la presentation et le PDF des reponses theoriques. La publication publique du depot est une etape distincte a verifier sur GitHub.</a:t>
            </a:r>
          </a:p>
        </p:txBody>
      </p:sp>
      <p:sp>
        <p:nvSpPr>
          <p:cNvPr id="4" name="Espace réservé du numéro de diapositive 3"/>
          <p:cNvSpPr>
            <a:spLocks noGrp="1"/>
          </p:cNvSpPr>
          <p:nvPr>
            <p:ph type="sldNum" sz="quarter" idx="5"/>
          </p:nvPr>
        </p:nvSpPr>
        <p:spPr/>
        <p:txBody>
          <a:bodyPr/>
          <a:lstStyle/>
          <a:p>
            <a:fld id="{C03D8499-99B9-4A23-BF5F-824B5552B8DF}" type="slidenum">
              <a:rPr lang="fr-FR" smtClean="0"/>
              <a:t>15</a:t>
            </a:fld>
            <a:endParaRPr lang="fr-FR"/>
          </a:p>
        </p:txBody>
      </p:sp>
    </p:spTree>
    <p:extLst>
      <p:ext uri="{BB962C8B-B14F-4D97-AF65-F5344CB8AC3E}">
        <p14:creationId xmlns:p14="http://schemas.microsoft.com/office/powerpoint/2010/main" val="585219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7E5792-9DE0-2613-6DAB-DC5C3F93F9A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E37144B-006D-DBF2-6F39-B460B3A2FC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DE4F359-32C6-DFA8-B7FC-6FF29CCE692C}"/>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5" name="Espace réservé du pied de page 4">
            <a:extLst>
              <a:ext uri="{FF2B5EF4-FFF2-40B4-BE49-F238E27FC236}">
                <a16:creationId xmlns:a16="http://schemas.microsoft.com/office/drawing/2014/main" id="{B29D615D-ACC0-E3E1-8600-7D3B70788B5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BF036C2-D6E2-085A-54D9-76AF3A09319A}"/>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819876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68FF05-124D-EB9F-7FEF-94FC49E9004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6215A77-9345-E50E-6F16-EC086888C67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6B58F82-8F3A-4721-E323-479E6BC844EF}"/>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5" name="Espace réservé du pied de page 4">
            <a:extLst>
              <a:ext uri="{FF2B5EF4-FFF2-40B4-BE49-F238E27FC236}">
                <a16:creationId xmlns:a16="http://schemas.microsoft.com/office/drawing/2014/main" id="{417F4242-6715-9B53-96D0-A46CEFE427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CEE06CF-B656-AF88-25E6-74724F308004}"/>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3333152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52ECF5-2E38-13EF-76E6-98C184B2629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76633A1-755B-94C8-3A9F-7F6DF38571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7CBC530-4DD2-465A-88F1-64A8B088409B}"/>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5" name="Espace réservé du pied de page 4">
            <a:extLst>
              <a:ext uri="{FF2B5EF4-FFF2-40B4-BE49-F238E27FC236}">
                <a16:creationId xmlns:a16="http://schemas.microsoft.com/office/drawing/2014/main" id="{EB238258-C154-92C3-7968-387B2F45E7D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69EBC84-FF90-A206-2CDA-64D6336C14C7}"/>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2434339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591CAB-3ECA-093C-0334-2456BAFA297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55F3609-F6BC-9E2C-A2DB-EAF62CB05C5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B6A3217-33A3-DB94-362C-07A85118462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02B5964-4E08-4347-B94E-E21E9DB781AC}"/>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6" name="Espace réservé du pied de page 5">
            <a:extLst>
              <a:ext uri="{FF2B5EF4-FFF2-40B4-BE49-F238E27FC236}">
                <a16:creationId xmlns:a16="http://schemas.microsoft.com/office/drawing/2014/main" id="{F817FDFB-85D5-97AB-F0F9-58611717894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DE78586-DDC5-DD28-3016-04AC2D2C8BB1}"/>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375186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D8CCFE-93F7-3837-01E9-3A7233709CE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4901E0C-F969-CFDF-23D4-C6FC5220B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3C6A523-A268-8759-D272-F782AC880DC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7B9C33D-AB63-31BC-DCF8-2CA269DC2D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A2166B5-7E85-3F55-D21B-6C69F6F3F86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E98CF8E-D62D-E67D-0AC9-5ACF1C32C86F}"/>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8" name="Espace réservé du pied de page 7">
            <a:extLst>
              <a:ext uri="{FF2B5EF4-FFF2-40B4-BE49-F238E27FC236}">
                <a16:creationId xmlns:a16="http://schemas.microsoft.com/office/drawing/2014/main" id="{4598DBF9-F271-8785-C503-0EC3EDBDE14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3B99EE0-F0D5-4590-BECA-EB929B0A6904}"/>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3466654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BADCEC-F9CA-DA8E-9476-67B3B1A70C1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E2333C6-1F50-C869-047B-2E339D2FA3B5}"/>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4" name="Espace réservé du pied de page 3">
            <a:extLst>
              <a:ext uri="{FF2B5EF4-FFF2-40B4-BE49-F238E27FC236}">
                <a16:creationId xmlns:a16="http://schemas.microsoft.com/office/drawing/2014/main" id="{9ED9C9B4-EAB2-9F07-2BA2-D9A77E1140A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294B64A-FF35-85CF-7683-F9613D6CC860}"/>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1423913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A54C174-4D44-91BB-85B7-54FF627C6ED9}"/>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3" name="Espace réservé du pied de page 2">
            <a:extLst>
              <a:ext uri="{FF2B5EF4-FFF2-40B4-BE49-F238E27FC236}">
                <a16:creationId xmlns:a16="http://schemas.microsoft.com/office/drawing/2014/main" id="{40247A83-BE23-1087-A215-35884C7AAC6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92AA2F0-413C-C8D6-7FA6-14082C7F357B}"/>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472630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CCF14B-3996-0A5C-DC2B-D023868347F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23BF420-2D9B-693B-EF80-F6CD9A4B02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09FC6C0-20EA-32C5-3CDC-A62222F46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231FDBC-D015-19CF-172E-B1B9B3EB384F}"/>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6" name="Espace réservé du pied de page 5">
            <a:extLst>
              <a:ext uri="{FF2B5EF4-FFF2-40B4-BE49-F238E27FC236}">
                <a16:creationId xmlns:a16="http://schemas.microsoft.com/office/drawing/2014/main" id="{B704CBD8-B1D3-ED21-C82C-04188F2EC4E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F0067B9-78BB-EA25-7350-0601A285DEED}"/>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3677392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7FACC3-D1CD-EE85-4633-7B61EFD8A84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2724C89-8937-75D1-D3BF-26EC1FE5970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6C32E14-E7F2-19B9-D9BD-3A681BB433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3978722-C91B-70D2-27EA-D7481586BDF4}"/>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6" name="Espace réservé du pied de page 5">
            <a:extLst>
              <a:ext uri="{FF2B5EF4-FFF2-40B4-BE49-F238E27FC236}">
                <a16:creationId xmlns:a16="http://schemas.microsoft.com/office/drawing/2014/main" id="{9ABA8F07-F99B-EABC-968A-E36D4BE43CB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A123A7D-8160-D859-C128-0663A9D90694}"/>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587588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A5E6E0-A0B0-025B-AE2E-CD92DE77805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2AF625D-6910-FB7C-1230-29D30BE55DA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7AF578A-EA1C-D81E-F046-526BA13BF648}"/>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5" name="Espace réservé du pied de page 4">
            <a:extLst>
              <a:ext uri="{FF2B5EF4-FFF2-40B4-BE49-F238E27FC236}">
                <a16:creationId xmlns:a16="http://schemas.microsoft.com/office/drawing/2014/main" id="{39480389-EB77-84D2-228B-ADF7ADE3804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E22143D-3A6B-CA58-CBD8-642F8852CD38}"/>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1812296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1B25C03-857A-03F3-8FB8-0C7DE18E290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BF03410-DC2F-892C-39BB-79F94FE1A99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3C25127-AB6C-B1A7-14FA-73EC0C29517E}"/>
              </a:ext>
            </a:extLst>
          </p:cNvPr>
          <p:cNvSpPr>
            <a:spLocks noGrp="1"/>
          </p:cNvSpPr>
          <p:nvPr>
            <p:ph type="dt" sz="half" idx="10"/>
          </p:nvPr>
        </p:nvSpPr>
        <p:spPr/>
        <p:txBody>
          <a:bodyPr/>
          <a:lstStyle/>
          <a:p>
            <a:fld id="{404316EF-F64E-4406-A83D-9DB12737C11F}" type="datetimeFigureOut">
              <a:rPr lang="fr-FR" smtClean="0"/>
              <a:t>08/10/2026</a:t>
            </a:fld>
            <a:endParaRPr lang="fr-FR"/>
          </a:p>
        </p:txBody>
      </p:sp>
      <p:sp>
        <p:nvSpPr>
          <p:cNvPr id="5" name="Espace réservé du pied de page 4">
            <a:extLst>
              <a:ext uri="{FF2B5EF4-FFF2-40B4-BE49-F238E27FC236}">
                <a16:creationId xmlns:a16="http://schemas.microsoft.com/office/drawing/2014/main" id="{C5AA0297-0E3B-5160-3BC0-40D35009956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205A5F4-2E92-866D-20C7-83C4146F1A34}"/>
              </a:ext>
            </a:extLst>
          </p:cNvPr>
          <p:cNvSpPr>
            <a:spLocks noGrp="1"/>
          </p:cNvSpPr>
          <p:nvPr>
            <p:ph type="sldNum" sz="quarter" idx="12"/>
          </p:nvPr>
        </p:nvSpPr>
        <p:spPr/>
        <p:txBody>
          <a:bodyPr/>
          <a:lstStyle/>
          <a:p>
            <a:fld id="{0FA51D72-9CA5-4808-B9F8-4ED500570D87}" type="slidenum">
              <a:rPr lang="fr-FR" smtClean="0"/>
              <a:t>‹N°›</a:t>
            </a:fld>
            <a:endParaRPr lang="fr-FR"/>
          </a:p>
        </p:txBody>
      </p:sp>
    </p:spTree>
    <p:extLst>
      <p:ext uri="{BB962C8B-B14F-4D97-AF65-F5344CB8AC3E}">
        <p14:creationId xmlns:p14="http://schemas.microsoft.com/office/powerpoint/2010/main" val="1648085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DC66270-2657-A347-BB6D-9E666EA37A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A903A52-47C1-E13B-7265-9BC243EB5F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E380782-935D-CE66-1D7C-7271F34430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4316EF-F64E-4406-A83D-9DB12737C11F}" type="datetimeFigureOut">
              <a:rPr lang="fr-FR" smtClean="0"/>
              <a:t>08/10/2026</a:t>
            </a:fld>
            <a:endParaRPr lang="fr-FR"/>
          </a:p>
        </p:txBody>
      </p:sp>
      <p:sp>
        <p:nvSpPr>
          <p:cNvPr id="5" name="Espace réservé du pied de page 4">
            <a:extLst>
              <a:ext uri="{FF2B5EF4-FFF2-40B4-BE49-F238E27FC236}">
                <a16:creationId xmlns:a16="http://schemas.microsoft.com/office/drawing/2014/main" id="{802692F9-3584-1E52-5B9C-0AE3B86CF7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C0537BC-3AD6-9691-B88A-4A85CCCA4E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A51D72-9CA5-4808-B9F8-4ED500570D87}" type="slidenum">
              <a:rPr lang="fr-FR" smtClean="0"/>
              <a:t>‹N°›</a:t>
            </a:fld>
            <a:endParaRPr lang="fr-FR"/>
          </a:p>
        </p:txBody>
      </p:sp>
    </p:spTree>
    <p:extLst>
      <p:ext uri="{BB962C8B-B14F-4D97-AF65-F5344CB8AC3E}">
        <p14:creationId xmlns:p14="http://schemas.microsoft.com/office/powerpoint/2010/main" val="2225567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7258EE-247B-2894-64A0-7401D61F725E}"/>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E06F672-FA1E-35EA-9403-ADE9DF0AB899}"/>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Building Perceptron</a:t>
            </a:r>
          </a:p>
        </p:txBody>
      </p:sp>
      <p:sp>
        <p:nvSpPr>
          <p:cNvPr id="4" name="ZoneTexte 3">
            <a:extLst>
              <a:ext uri="{FF2B5EF4-FFF2-40B4-BE49-F238E27FC236}">
                <a16:creationId xmlns:a16="http://schemas.microsoft.com/office/drawing/2014/main" id="{0EC5A6D0-C04E-149C-03FD-B43E1A50C0C1}"/>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557DEBE8-6FEA-DD9F-AE6C-61536778AF7B}"/>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1</a:t>
            </a:r>
          </a:p>
        </p:txBody>
      </p:sp>
      <p:sp>
        <p:nvSpPr>
          <p:cNvPr id="6" name="ZoneTexte 5">
            <a:extLst>
              <a:ext uri="{FF2B5EF4-FFF2-40B4-BE49-F238E27FC236}">
                <a16:creationId xmlns:a16="http://schemas.microsoft.com/office/drawing/2014/main" id="{E53D532C-D5F6-3E56-7D54-538E8FC44513}"/>
              </a:ext>
            </a:extLst>
          </p:cNvPr>
          <p:cNvSpPr txBox="1"/>
          <p:nvPr/>
        </p:nvSpPr>
        <p:spPr>
          <a:xfrm>
            <a:off x="508000" y="1778000"/>
            <a:ext cx="10795000" cy="492443"/>
          </a:xfrm>
          <a:prstGeom prst="rect">
            <a:avLst/>
          </a:prstGeom>
          <a:noFill/>
        </p:spPr>
        <p:txBody>
          <a:bodyPr vert="horz" wrap="square" lIns="0" tIns="0" rIns="0" bIns="0" rtlCol="0">
            <a:spAutoFit/>
          </a:bodyPr>
          <a:lstStyle/>
          <a:p>
            <a:r>
              <a:rPr lang="fr-FR" sz="3200" b="1">
                <a:solidFill>
                  <a:srgbClr val="077F83"/>
                </a:solidFill>
                <a:latin typeface="Aptos" panose="020B0004020202020204" pitchFamily="34" charset="0"/>
              </a:rPr>
              <a:t>Developper un classifieur lineaire et expliquer ses limites</a:t>
            </a:r>
          </a:p>
        </p:txBody>
      </p:sp>
      <p:sp>
        <p:nvSpPr>
          <p:cNvPr id="7" name="ZoneTexte 6">
            <a:extLst>
              <a:ext uri="{FF2B5EF4-FFF2-40B4-BE49-F238E27FC236}">
                <a16:creationId xmlns:a16="http://schemas.microsoft.com/office/drawing/2014/main" id="{E466FDD1-1D93-C381-F72F-F3ADEB8119EF}"/>
              </a:ext>
            </a:extLst>
          </p:cNvPr>
          <p:cNvSpPr txBox="1"/>
          <p:nvPr/>
        </p:nvSpPr>
        <p:spPr>
          <a:xfrm>
            <a:off x="508000" y="3429000"/>
            <a:ext cx="10795000" cy="1107996"/>
          </a:xfrm>
          <a:prstGeom prst="rect">
            <a:avLst/>
          </a:prstGeom>
          <a:noFill/>
        </p:spPr>
        <p:txBody>
          <a:bodyPr vert="horz" wrap="square" lIns="0" tIns="0" rIns="0" bIns="0" rtlCol="0">
            <a:spAutoFit/>
          </a:bodyPr>
          <a:lstStyle/>
          <a:p>
            <a:r>
              <a:rPr lang="fr-FR" sz="2400">
                <a:solidFill>
                  <a:srgbClr val="242424"/>
                </a:solidFill>
                <a:latin typeface="Aptos" panose="020B0004020202020204" pitchFamily="34" charset="0"/>
              </a:rPr>
              <a:t>Une classe Python avec NumPy
Un notebook unique : tests, EDA et modelisation
Un probleme binaire : diagnostic benin ou malin</a:t>
            </a:r>
          </a:p>
        </p:txBody>
      </p:sp>
      <p:sp>
        <p:nvSpPr>
          <p:cNvPr id="8" name="ZoneTexte 7">
            <a:extLst>
              <a:ext uri="{FF2B5EF4-FFF2-40B4-BE49-F238E27FC236}">
                <a16:creationId xmlns:a16="http://schemas.microsoft.com/office/drawing/2014/main" id="{D7579823-43D0-7897-7CA3-45E0E48C926F}"/>
              </a:ext>
            </a:extLst>
          </p:cNvPr>
          <p:cNvSpPr txBox="1"/>
          <p:nvPr/>
        </p:nvSpPr>
        <p:spPr>
          <a:xfrm>
            <a:off x="508000" y="5715000"/>
            <a:ext cx="11176000" cy="276999"/>
          </a:xfrm>
          <a:prstGeom prst="rect">
            <a:avLst/>
          </a:prstGeom>
          <a:noFill/>
        </p:spPr>
        <p:txBody>
          <a:bodyPr vert="horz" wrap="square" lIns="0" tIns="0" rIns="0" bIns="0" rtlCol="0">
            <a:spAutoFit/>
          </a:bodyPr>
          <a:lstStyle/>
          <a:p>
            <a:r>
              <a:rPr lang="fr-FR">
                <a:solidFill>
                  <a:srgbClr val="6C6C6C"/>
                </a:solidFill>
                <a:latin typeface="Aptos" panose="020B0004020202020204" pitchFamily="34" charset="0"/>
              </a:rPr>
              <a:t>Breast Cancer Wisconsin (Diagnostic) | 569 observations | 30 mesures</a:t>
            </a:r>
          </a:p>
        </p:txBody>
      </p:sp>
    </p:spTree>
    <p:extLst>
      <p:ext uri="{BB962C8B-B14F-4D97-AF65-F5344CB8AC3E}">
        <p14:creationId xmlns:p14="http://schemas.microsoft.com/office/powerpoint/2010/main" val="33036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1F01B7-B64A-5D2A-20DE-D99291EC0E9B}"/>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F481E4A7-F75F-EFC4-A6B4-1D41C61D3090}"/>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1. Comment fonctionne notre perceptron ?</a:t>
            </a:r>
          </a:p>
        </p:txBody>
      </p:sp>
      <p:sp>
        <p:nvSpPr>
          <p:cNvPr id="4" name="ZoneTexte 3">
            <a:extLst>
              <a:ext uri="{FF2B5EF4-FFF2-40B4-BE49-F238E27FC236}">
                <a16:creationId xmlns:a16="http://schemas.microsoft.com/office/drawing/2014/main" id="{C3BEA488-BE15-C917-D425-950103719F24}"/>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ACD6A0B0-3746-B64E-9495-552384137967}"/>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2</a:t>
            </a:r>
          </a:p>
        </p:txBody>
      </p:sp>
      <p:sp>
        <p:nvSpPr>
          <p:cNvPr id="6" name="ZoneTexte 5">
            <a:extLst>
              <a:ext uri="{FF2B5EF4-FFF2-40B4-BE49-F238E27FC236}">
                <a16:creationId xmlns:a16="http://schemas.microsoft.com/office/drawing/2014/main" id="{B59D43C5-5315-6CF3-BBA0-9A8FE7C18186}"/>
              </a:ext>
            </a:extLst>
          </p:cNvPr>
          <p:cNvSpPr txBox="1"/>
          <p:nvPr/>
        </p:nvSpPr>
        <p:spPr>
          <a:xfrm>
            <a:off x="508000" y="1778000"/>
            <a:ext cx="10922000" cy="830997"/>
          </a:xfrm>
          <a:prstGeom prst="rect">
            <a:avLst/>
          </a:prstGeom>
          <a:noFill/>
        </p:spPr>
        <p:txBody>
          <a:bodyPr vert="horz" wrap="square" lIns="0" tIns="0" rIns="0" bIns="0" rtlCol="0">
            <a:spAutoFit/>
          </a:bodyPr>
          <a:lstStyle/>
          <a:p>
            <a:r>
              <a:rPr lang="fr-FR" sz="2700" b="1">
                <a:solidFill>
                  <a:srgbClr val="077F83"/>
                </a:solidFill>
                <a:latin typeface="Aptos" panose="020B0004020202020204" pitchFamily="34" charset="0"/>
              </a:rPr>
              <a:t>Score : s = w^T x + b
Prediction : 1 si s &gt;= 0, sinon 0</a:t>
            </a:r>
          </a:p>
        </p:txBody>
      </p:sp>
      <p:sp>
        <p:nvSpPr>
          <p:cNvPr id="7" name="ZoneTexte 6">
            <a:extLst>
              <a:ext uri="{FF2B5EF4-FFF2-40B4-BE49-F238E27FC236}">
                <a16:creationId xmlns:a16="http://schemas.microsoft.com/office/drawing/2014/main" id="{CAD1BE3F-4479-0FDF-5CB7-8340A5F07A1A}"/>
              </a:ext>
            </a:extLst>
          </p:cNvPr>
          <p:cNvSpPr txBox="1"/>
          <p:nvPr/>
        </p:nvSpPr>
        <p:spPr>
          <a:xfrm>
            <a:off x="508000" y="3429000"/>
            <a:ext cx="11176000" cy="1692771"/>
          </a:xfrm>
          <a:prstGeom prst="rect">
            <a:avLst/>
          </a:prstGeom>
          <a:noFill/>
        </p:spPr>
        <p:txBody>
          <a:bodyPr vert="horz" wrap="square" lIns="0" tIns="0" rIns="0" bIns="0" rtlCol="0">
            <a:spAutoFit/>
          </a:bodyPr>
          <a:lstStyle/>
          <a:p>
            <a:r>
              <a:rPr lang="fr-FR" sz="2200">
                <a:solidFill>
                  <a:srgbClr val="242424"/>
                </a:solidFill>
                <a:latin typeface="Aptos" panose="020B0004020202020204" pitchFamily="34" charset="0"/>
              </a:rPr>
              <a:t>Erreur : e = y - prediction
Correction : w &lt;- w + eta * e * x ; b &lt;- b + eta * e
fit : apprendre | net_input : calculer le score | predict : classer
errors_ : erreurs pendant chaque passe, pas erreurs du test</a:t>
            </a:r>
          </a:p>
        </p:txBody>
      </p:sp>
    </p:spTree>
    <p:extLst>
      <p:ext uri="{BB962C8B-B14F-4D97-AF65-F5344CB8AC3E}">
        <p14:creationId xmlns:p14="http://schemas.microsoft.com/office/powerpoint/2010/main" val="418082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1E85B-7519-E7F3-B62D-4F9B72C11CC1}"/>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80FD73D3-F2FA-676A-C80D-A2A290773541}"/>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2. Valider la classe : AND reussit, XOR echoue</a:t>
            </a:r>
          </a:p>
        </p:txBody>
      </p:sp>
      <p:sp>
        <p:nvSpPr>
          <p:cNvPr id="4" name="ZoneTexte 3">
            <a:extLst>
              <a:ext uri="{FF2B5EF4-FFF2-40B4-BE49-F238E27FC236}">
                <a16:creationId xmlns:a16="http://schemas.microsoft.com/office/drawing/2014/main" id="{126D8E3F-A5FD-78DA-CDEC-CCE4C63C5749}"/>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EA1BF8FA-4497-901A-87BE-DE3A33DDD7D3}"/>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3</a:t>
            </a:r>
          </a:p>
        </p:txBody>
      </p:sp>
      <p:pic>
        <p:nvPicPr>
          <p:cNvPr id="7" name="Image 6">
            <a:extLst>
              <a:ext uri="{FF2B5EF4-FFF2-40B4-BE49-F238E27FC236}">
                <a16:creationId xmlns:a16="http://schemas.microsoft.com/office/drawing/2014/main" id="{557E0750-2187-E761-D66D-BE5497ED3D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86218" y="1587500"/>
            <a:ext cx="9219563" cy="3492500"/>
          </a:xfrm>
          <a:prstGeom prst="rect">
            <a:avLst/>
          </a:prstGeom>
        </p:spPr>
      </p:pic>
      <p:sp>
        <p:nvSpPr>
          <p:cNvPr id="8" name="ZoneTexte 7">
            <a:extLst>
              <a:ext uri="{FF2B5EF4-FFF2-40B4-BE49-F238E27FC236}">
                <a16:creationId xmlns:a16="http://schemas.microsoft.com/office/drawing/2014/main" id="{66A88FBE-6A04-C3C0-BEBF-F7291839BC2E}"/>
              </a:ext>
            </a:extLst>
          </p:cNvPr>
          <p:cNvSpPr txBox="1"/>
          <p:nvPr/>
        </p:nvSpPr>
        <p:spPr>
          <a:xfrm>
            <a:off x="508000" y="5334000"/>
            <a:ext cx="11176000" cy="353943"/>
          </a:xfrm>
          <a:prstGeom prst="rect">
            <a:avLst/>
          </a:prstGeom>
          <a:noFill/>
        </p:spPr>
        <p:txBody>
          <a:bodyPr vert="horz" wrap="square" lIns="0" tIns="0" rIns="0" bIns="0" rtlCol="0">
            <a:spAutoFit/>
          </a:bodyPr>
          <a:lstStyle/>
          <a:p>
            <a:r>
              <a:rPr lang="fr-FR" sz="2300" b="1">
                <a:solidFill>
                  <a:srgbClr val="077F83"/>
                </a:solidFill>
                <a:latin typeface="Aptos" panose="020B0004020202020204" pitchFamily="34" charset="0"/>
              </a:rPr>
              <a:t>AND : assertions validees. XOR : 2 erreurs finales sur 4.</a:t>
            </a:r>
          </a:p>
        </p:txBody>
      </p:sp>
      <p:sp>
        <p:nvSpPr>
          <p:cNvPr id="9" name="ZoneTexte 8">
            <a:extLst>
              <a:ext uri="{FF2B5EF4-FFF2-40B4-BE49-F238E27FC236}">
                <a16:creationId xmlns:a16="http://schemas.microsoft.com/office/drawing/2014/main" id="{50FB66A6-2AE6-504B-F76E-9B3E3E4DED12}"/>
              </a:ext>
            </a:extLst>
          </p:cNvPr>
          <p:cNvSpPr txBox="1"/>
          <p:nvPr/>
        </p:nvSpPr>
        <p:spPr>
          <a:xfrm>
            <a:off x="508000" y="5842000"/>
            <a:ext cx="11176000" cy="292388"/>
          </a:xfrm>
          <a:prstGeom prst="rect">
            <a:avLst/>
          </a:prstGeom>
          <a:noFill/>
        </p:spPr>
        <p:txBody>
          <a:bodyPr vert="horz" wrap="square" lIns="0" tIns="0" rIns="0" bIns="0" rtlCol="0">
            <a:spAutoFit/>
          </a:bodyPr>
          <a:lstStyle/>
          <a:p>
            <a:r>
              <a:rPr lang="fr-FR" sz="1900">
                <a:solidFill>
                  <a:srgbClr val="242424"/>
                </a:solidFill>
                <a:latin typeface="Aptos" panose="020B0004020202020204" pitchFamily="34" charset="0"/>
              </a:rPr>
              <a:t>L echec attendu sur XOR montre la limite d une frontiere lineaire.</a:t>
            </a:r>
          </a:p>
        </p:txBody>
      </p:sp>
    </p:spTree>
    <p:extLst>
      <p:ext uri="{BB962C8B-B14F-4D97-AF65-F5344CB8AC3E}">
        <p14:creationId xmlns:p14="http://schemas.microsoft.com/office/powerpoint/2010/main" val="4086965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461EBF-F77B-FD78-A002-2FE2D40BE5B7}"/>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937E9479-3F24-A8E7-7E18-F8831BFCB525}"/>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3. Generaliser sur des donnees simulees</a:t>
            </a:r>
          </a:p>
        </p:txBody>
      </p:sp>
      <p:sp>
        <p:nvSpPr>
          <p:cNvPr id="4" name="ZoneTexte 3">
            <a:extLst>
              <a:ext uri="{FF2B5EF4-FFF2-40B4-BE49-F238E27FC236}">
                <a16:creationId xmlns:a16="http://schemas.microsoft.com/office/drawing/2014/main" id="{FDCC0795-2462-E192-8D90-9EFAAB3D8508}"/>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4C18A7D1-9417-5625-CECF-4C95FD0D9CD1}"/>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4</a:t>
            </a:r>
          </a:p>
        </p:txBody>
      </p:sp>
      <p:pic>
        <p:nvPicPr>
          <p:cNvPr id="7" name="Image 6">
            <a:extLst>
              <a:ext uri="{FF2B5EF4-FFF2-40B4-BE49-F238E27FC236}">
                <a16:creationId xmlns:a16="http://schemas.microsoft.com/office/drawing/2014/main" id="{E72BC145-F1C3-5007-156B-2CA8AEAEFD7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77410" y="1587500"/>
            <a:ext cx="9437181" cy="3492500"/>
          </a:xfrm>
          <a:prstGeom prst="rect">
            <a:avLst/>
          </a:prstGeom>
        </p:spPr>
      </p:pic>
      <p:sp>
        <p:nvSpPr>
          <p:cNvPr id="8" name="ZoneTexte 7">
            <a:extLst>
              <a:ext uri="{FF2B5EF4-FFF2-40B4-BE49-F238E27FC236}">
                <a16:creationId xmlns:a16="http://schemas.microsoft.com/office/drawing/2014/main" id="{181C55FD-554B-5DDA-088C-2638CFC3A83E}"/>
              </a:ext>
            </a:extLst>
          </p:cNvPr>
          <p:cNvSpPr txBox="1"/>
          <p:nvPr/>
        </p:nvSpPr>
        <p:spPr>
          <a:xfrm>
            <a:off x="508000" y="5334000"/>
            <a:ext cx="11176000" cy="338554"/>
          </a:xfrm>
          <a:prstGeom prst="rect">
            <a:avLst/>
          </a:prstGeom>
          <a:noFill/>
        </p:spPr>
        <p:txBody>
          <a:bodyPr vert="horz" wrap="square" lIns="0" tIns="0" rIns="0" bIns="0" rtlCol="0">
            <a:spAutoFit/>
          </a:bodyPr>
          <a:lstStyle/>
          <a:p>
            <a:r>
              <a:rPr lang="fr-FR" sz="2200" b="1">
                <a:solidFill>
                  <a:srgbClr val="077F83"/>
                </a:solidFill>
                <a:latin typeface="Aptos" panose="020B0004020202020204" pitchFamily="34" charset="0"/>
              </a:rPr>
              <a:t>90 points pour apprendre | 30 pour tester | accuracy test : 100 %</a:t>
            </a:r>
          </a:p>
        </p:txBody>
      </p:sp>
      <p:sp>
        <p:nvSpPr>
          <p:cNvPr id="9" name="ZoneTexte 8">
            <a:extLst>
              <a:ext uri="{FF2B5EF4-FFF2-40B4-BE49-F238E27FC236}">
                <a16:creationId xmlns:a16="http://schemas.microsoft.com/office/drawing/2014/main" id="{B09332CF-6BC2-3375-20B0-5A7A2CE0E204}"/>
              </a:ext>
            </a:extLst>
          </p:cNvPr>
          <p:cNvSpPr txBox="1"/>
          <p:nvPr/>
        </p:nvSpPr>
        <p:spPr>
          <a:xfrm>
            <a:off x="508000" y="5842000"/>
            <a:ext cx="11176000" cy="292388"/>
          </a:xfrm>
          <a:prstGeom prst="rect">
            <a:avLst/>
          </a:prstGeom>
          <a:noFill/>
        </p:spPr>
        <p:txBody>
          <a:bodyPr vert="horz" wrap="square" lIns="0" tIns="0" rIns="0" bIns="0" rtlCol="0">
            <a:spAutoFit/>
          </a:bodyPr>
          <a:lstStyle/>
          <a:p>
            <a:r>
              <a:rPr lang="fr-FR" sz="1900">
                <a:solidFill>
                  <a:srgbClr val="242424"/>
                </a:solidFill>
                <a:latin typeface="Aptos" panose="020B0004020202020204" pitchFamily="34" charset="0"/>
              </a:rPr>
              <a:t>Un probleme artificiel separable ne prouve pas une fiabilite clinique.</a:t>
            </a:r>
          </a:p>
        </p:txBody>
      </p:sp>
    </p:spTree>
    <p:extLst>
      <p:ext uri="{BB962C8B-B14F-4D97-AF65-F5344CB8AC3E}">
        <p14:creationId xmlns:p14="http://schemas.microsoft.com/office/powerpoint/2010/main" val="41198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A894D2-5965-2A7A-4097-9D38FA9BBB3E}"/>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A94A5C62-9794-1C16-527B-E30F9E5FCC6F}"/>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4. Pourquoi les courbes des taux se superposent ?</a:t>
            </a:r>
          </a:p>
        </p:txBody>
      </p:sp>
      <p:sp>
        <p:nvSpPr>
          <p:cNvPr id="4" name="ZoneTexte 3">
            <a:extLst>
              <a:ext uri="{FF2B5EF4-FFF2-40B4-BE49-F238E27FC236}">
                <a16:creationId xmlns:a16="http://schemas.microsoft.com/office/drawing/2014/main" id="{227F3552-D725-28D2-0EC9-DD9E970A2B0B}"/>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6A63533A-9AB4-CCDA-A46B-88661CBE1CC4}"/>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5</a:t>
            </a:r>
          </a:p>
        </p:txBody>
      </p:sp>
      <p:pic>
        <p:nvPicPr>
          <p:cNvPr id="7" name="Image 6">
            <a:extLst>
              <a:ext uri="{FF2B5EF4-FFF2-40B4-BE49-F238E27FC236}">
                <a16:creationId xmlns:a16="http://schemas.microsoft.com/office/drawing/2014/main" id="{288D6501-106F-880A-6017-D088CEE58A2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05824" y="1524000"/>
            <a:ext cx="9780351" cy="3619500"/>
          </a:xfrm>
          <a:prstGeom prst="rect">
            <a:avLst/>
          </a:prstGeom>
        </p:spPr>
      </p:pic>
      <p:sp>
        <p:nvSpPr>
          <p:cNvPr id="8" name="ZoneTexte 7">
            <a:extLst>
              <a:ext uri="{FF2B5EF4-FFF2-40B4-BE49-F238E27FC236}">
                <a16:creationId xmlns:a16="http://schemas.microsoft.com/office/drawing/2014/main" id="{295BF10E-38FA-5A4E-6C2A-C14CB4369A89}"/>
              </a:ext>
            </a:extLst>
          </p:cNvPr>
          <p:cNvSpPr txBox="1"/>
          <p:nvPr/>
        </p:nvSpPr>
        <p:spPr>
          <a:xfrm>
            <a:off x="508000" y="5334000"/>
            <a:ext cx="11176000" cy="353943"/>
          </a:xfrm>
          <a:prstGeom prst="rect">
            <a:avLst/>
          </a:prstGeom>
          <a:noFill/>
        </p:spPr>
        <p:txBody>
          <a:bodyPr vert="horz" wrap="square" lIns="0" tIns="0" rIns="0" bIns="0" rtlCol="0">
            <a:spAutoFit/>
          </a:bodyPr>
          <a:lstStyle/>
          <a:p>
            <a:r>
              <a:rPr lang="fr-FR" sz="2300" b="1">
                <a:solidFill>
                  <a:srgbClr val="077F83"/>
                </a:solidFill>
                <a:latin typeface="Aptos" panose="020B0004020202020204" pitchFamily="34" charset="0"/>
              </a:rPr>
              <a:t>Nuages : zero erreur. XOR : les corrections persistent.</a:t>
            </a:r>
          </a:p>
        </p:txBody>
      </p:sp>
      <p:sp>
        <p:nvSpPr>
          <p:cNvPr id="9" name="ZoneTexte 8">
            <a:extLst>
              <a:ext uri="{FF2B5EF4-FFF2-40B4-BE49-F238E27FC236}">
                <a16:creationId xmlns:a16="http://schemas.microsoft.com/office/drawing/2014/main" id="{C0BB7D30-9C94-09B1-CDA9-96D887E9E85B}"/>
              </a:ext>
            </a:extLst>
          </p:cNvPr>
          <p:cNvSpPr txBox="1"/>
          <p:nvPr/>
        </p:nvSpPr>
        <p:spPr>
          <a:xfrm>
            <a:off x="508000" y="5816600"/>
            <a:ext cx="11176000" cy="292388"/>
          </a:xfrm>
          <a:prstGeom prst="rect">
            <a:avLst/>
          </a:prstGeom>
          <a:noFill/>
        </p:spPr>
        <p:txBody>
          <a:bodyPr vert="horz" wrap="square" lIns="0" tIns="0" rIns="0" bIns="0" rtlCol="0">
            <a:spAutoFit/>
          </a:bodyPr>
          <a:lstStyle/>
          <a:p>
            <a:r>
              <a:rPr lang="fr-FR" sz="1900">
                <a:solidFill>
                  <a:srgbClr val="242424"/>
                </a:solidFill>
                <a:latin typeface="Aptos" panose="020B0004020202020204" pitchFamily="34" charset="0"/>
              </a:rPr>
              <a:t>Ici, changer eta met les poids a une autre echelle sans changer les decisions.</a:t>
            </a:r>
          </a:p>
        </p:txBody>
      </p:sp>
    </p:spTree>
    <p:extLst>
      <p:ext uri="{BB962C8B-B14F-4D97-AF65-F5344CB8AC3E}">
        <p14:creationId xmlns:p14="http://schemas.microsoft.com/office/powerpoint/2010/main" val="131904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6D9CAC-7FFF-73E7-CB37-565F544CC3FB}"/>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C1196639-3DBF-068F-A78B-D46EC4DF4F34}"/>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5. Donnees reelles : qualite et cible</a:t>
            </a:r>
          </a:p>
        </p:txBody>
      </p:sp>
      <p:sp>
        <p:nvSpPr>
          <p:cNvPr id="4" name="ZoneTexte 3">
            <a:extLst>
              <a:ext uri="{FF2B5EF4-FFF2-40B4-BE49-F238E27FC236}">
                <a16:creationId xmlns:a16="http://schemas.microsoft.com/office/drawing/2014/main" id="{6B9A66E2-8CC7-CFA3-68FA-23A9213668D9}"/>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41B9C7D0-7C97-900A-857A-7A4868C275DC}"/>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6</a:t>
            </a:r>
          </a:p>
        </p:txBody>
      </p:sp>
      <p:pic>
        <p:nvPicPr>
          <p:cNvPr id="7" name="Image 6">
            <a:extLst>
              <a:ext uri="{FF2B5EF4-FFF2-40B4-BE49-F238E27FC236}">
                <a16:creationId xmlns:a16="http://schemas.microsoft.com/office/drawing/2014/main" id="{50DB3E96-C57D-058B-D12D-C714E7C7DA7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019208"/>
            <a:ext cx="6223000" cy="3518084"/>
          </a:xfrm>
          <a:prstGeom prst="rect">
            <a:avLst/>
          </a:prstGeom>
        </p:spPr>
      </p:pic>
      <p:sp>
        <p:nvSpPr>
          <p:cNvPr id="8" name="ZoneTexte 7">
            <a:extLst>
              <a:ext uri="{FF2B5EF4-FFF2-40B4-BE49-F238E27FC236}">
                <a16:creationId xmlns:a16="http://schemas.microsoft.com/office/drawing/2014/main" id="{2CAF25BD-DB45-C149-F1A6-FB49428BF74A}"/>
              </a:ext>
            </a:extLst>
          </p:cNvPr>
          <p:cNvSpPr txBox="1"/>
          <p:nvPr/>
        </p:nvSpPr>
        <p:spPr>
          <a:xfrm>
            <a:off x="7175500" y="1778000"/>
            <a:ext cx="4445000" cy="2477601"/>
          </a:xfrm>
          <a:prstGeom prst="rect">
            <a:avLst/>
          </a:prstGeom>
          <a:noFill/>
        </p:spPr>
        <p:txBody>
          <a:bodyPr vert="horz" wrap="square" lIns="0" tIns="0" rIns="0" bIns="0" rtlCol="0">
            <a:spAutoFit/>
          </a:bodyPr>
          <a:lstStyle/>
          <a:p>
            <a:r>
              <a:rPr lang="fr-FR" sz="2300">
                <a:solidFill>
                  <a:srgbClr val="242424"/>
                </a:solidFill>
                <a:latin typeface="Aptos" panose="020B0004020202020204" pitchFamily="34" charset="0"/>
              </a:rPr>
              <a:t>569 observations, 30 mesures
357 benignes : 62,7 %
212 malignes : 37,3 %
0 valeur manquante
0 ligne dupliquee
Pas de suppression arbitraire</a:t>
            </a:r>
          </a:p>
        </p:txBody>
      </p:sp>
    </p:spTree>
    <p:extLst>
      <p:ext uri="{BB962C8B-B14F-4D97-AF65-F5344CB8AC3E}">
        <p14:creationId xmlns:p14="http://schemas.microsoft.com/office/powerpoint/2010/main" val="4052015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831156-B190-4C92-5EBB-6ACF00C7F477}"/>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119299CA-AE1F-8953-008E-B90142509ACC}"/>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6. EDA : quelles distributions distinguent les classes ?</a:t>
            </a:r>
          </a:p>
        </p:txBody>
      </p:sp>
      <p:sp>
        <p:nvSpPr>
          <p:cNvPr id="4" name="ZoneTexte 3">
            <a:extLst>
              <a:ext uri="{FF2B5EF4-FFF2-40B4-BE49-F238E27FC236}">
                <a16:creationId xmlns:a16="http://schemas.microsoft.com/office/drawing/2014/main" id="{23CABA0D-7A06-CACA-E832-6A6724CF9613}"/>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145AD1C2-827A-2BB5-6FC0-5635AA6A30BF}"/>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7</a:t>
            </a:r>
          </a:p>
        </p:txBody>
      </p:sp>
      <p:pic>
        <p:nvPicPr>
          <p:cNvPr id="7" name="Image 6">
            <a:extLst>
              <a:ext uri="{FF2B5EF4-FFF2-40B4-BE49-F238E27FC236}">
                <a16:creationId xmlns:a16="http://schemas.microsoft.com/office/drawing/2014/main" id="{A55B15CE-0648-2A86-D28A-B6409E15414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1000" y="2147735"/>
            <a:ext cx="3746500" cy="2118030"/>
          </a:xfrm>
          <a:prstGeom prst="rect">
            <a:avLst/>
          </a:prstGeom>
        </p:spPr>
      </p:pic>
      <p:pic>
        <p:nvPicPr>
          <p:cNvPr id="9" name="Image 8">
            <a:extLst>
              <a:ext uri="{FF2B5EF4-FFF2-40B4-BE49-F238E27FC236}">
                <a16:creationId xmlns:a16="http://schemas.microsoft.com/office/drawing/2014/main" id="{14511DDF-5573-F4CD-ABED-B810BD07ED4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216400" y="2147735"/>
            <a:ext cx="3746500" cy="2118030"/>
          </a:xfrm>
          <a:prstGeom prst="rect">
            <a:avLst/>
          </a:prstGeom>
        </p:spPr>
      </p:pic>
      <p:pic>
        <p:nvPicPr>
          <p:cNvPr id="11" name="Image 10">
            <a:extLst>
              <a:ext uri="{FF2B5EF4-FFF2-40B4-BE49-F238E27FC236}">
                <a16:creationId xmlns:a16="http://schemas.microsoft.com/office/drawing/2014/main" id="{2EFAEC61-4F1C-391A-B4B9-2182C28EA4E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051800" y="2148695"/>
            <a:ext cx="3746500" cy="2116110"/>
          </a:xfrm>
          <a:prstGeom prst="rect">
            <a:avLst/>
          </a:prstGeom>
        </p:spPr>
      </p:pic>
      <p:sp>
        <p:nvSpPr>
          <p:cNvPr id="12" name="ZoneTexte 11">
            <a:extLst>
              <a:ext uri="{FF2B5EF4-FFF2-40B4-BE49-F238E27FC236}">
                <a16:creationId xmlns:a16="http://schemas.microsoft.com/office/drawing/2014/main" id="{6FBBB058-05AF-B55F-7347-FBBEAEC1F724}"/>
              </a:ext>
            </a:extLst>
          </p:cNvPr>
          <p:cNvSpPr txBox="1"/>
          <p:nvPr/>
        </p:nvSpPr>
        <p:spPr>
          <a:xfrm>
            <a:off x="508000" y="4953000"/>
            <a:ext cx="11176000" cy="338554"/>
          </a:xfrm>
          <a:prstGeom prst="rect">
            <a:avLst/>
          </a:prstGeom>
          <a:noFill/>
        </p:spPr>
        <p:txBody>
          <a:bodyPr vert="horz" wrap="square" lIns="0" tIns="0" rIns="0" bIns="0" rtlCol="0">
            <a:spAutoFit/>
          </a:bodyPr>
          <a:lstStyle/>
          <a:p>
            <a:r>
              <a:rPr lang="fr-FR" sz="2200" b="1">
                <a:solidFill>
                  <a:srgbClr val="077F83"/>
                </a:solidFill>
                <a:latin typeface="Aptos" panose="020B0004020202020204" pitchFamily="34" charset="0"/>
              </a:rPr>
              <a:t>Rayon et points concaves : separation plus nette que la texture.</a:t>
            </a:r>
          </a:p>
        </p:txBody>
      </p:sp>
      <p:sp>
        <p:nvSpPr>
          <p:cNvPr id="13" name="ZoneTexte 12">
            <a:extLst>
              <a:ext uri="{FF2B5EF4-FFF2-40B4-BE49-F238E27FC236}">
                <a16:creationId xmlns:a16="http://schemas.microsoft.com/office/drawing/2014/main" id="{D84CD5FD-DCA3-F0D4-ABB9-82EFFC0CD287}"/>
              </a:ext>
            </a:extLst>
          </p:cNvPr>
          <p:cNvSpPr txBox="1"/>
          <p:nvPr/>
        </p:nvSpPr>
        <p:spPr>
          <a:xfrm>
            <a:off x="508000" y="5778500"/>
            <a:ext cx="11176000" cy="292388"/>
          </a:xfrm>
          <a:prstGeom prst="rect">
            <a:avLst/>
          </a:prstGeom>
          <a:noFill/>
        </p:spPr>
        <p:txBody>
          <a:bodyPr vert="horz" wrap="square" lIns="0" tIns="0" rIns="0" bIns="0" rtlCol="0">
            <a:spAutoFit/>
          </a:bodyPr>
          <a:lstStyle/>
          <a:p>
            <a:r>
              <a:rPr lang="fr-FR" sz="1900">
                <a:solidFill>
                  <a:srgbClr val="242424"/>
                </a:solidFill>
                <a:latin typeface="Aptos" panose="020B0004020202020204" pitchFamily="34" charset="0"/>
              </a:rPr>
              <a:t>Des chevauchements subsistent. Les 30 mesures restent utilisees.</a:t>
            </a:r>
          </a:p>
        </p:txBody>
      </p:sp>
    </p:spTree>
    <p:extLst>
      <p:ext uri="{BB962C8B-B14F-4D97-AF65-F5344CB8AC3E}">
        <p14:creationId xmlns:p14="http://schemas.microsoft.com/office/powerpoint/2010/main" val="3628389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C31A07-FA48-2EA5-22A9-96185F884151}"/>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F85DA6E3-6B42-F22D-049F-0DE58F9979E9}"/>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7. EDA : echelles et correlations</a:t>
            </a:r>
          </a:p>
        </p:txBody>
      </p:sp>
      <p:sp>
        <p:nvSpPr>
          <p:cNvPr id="4" name="ZoneTexte 3">
            <a:extLst>
              <a:ext uri="{FF2B5EF4-FFF2-40B4-BE49-F238E27FC236}">
                <a16:creationId xmlns:a16="http://schemas.microsoft.com/office/drawing/2014/main" id="{A81AF0BB-26BE-2EA5-CBA8-A449989B51BB}"/>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CC3AB3B6-371B-B56F-2DFE-D471DF06C928}"/>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8</a:t>
            </a:r>
          </a:p>
        </p:txBody>
      </p:sp>
      <p:pic>
        <p:nvPicPr>
          <p:cNvPr id="7" name="Image 6">
            <a:extLst>
              <a:ext uri="{FF2B5EF4-FFF2-40B4-BE49-F238E27FC236}">
                <a16:creationId xmlns:a16="http://schemas.microsoft.com/office/drawing/2014/main" id="{D8AF5E31-1544-E5B3-D87E-965BB9D3D0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5064" y="1460500"/>
            <a:ext cx="5246872" cy="4826000"/>
          </a:xfrm>
          <a:prstGeom prst="rect">
            <a:avLst/>
          </a:prstGeom>
        </p:spPr>
      </p:pic>
      <p:sp>
        <p:nvSpPr>
          <p:cNvPr id="8" name="ZoneTexte 7">
            <a:extLst>
              <a:ext uri="{FF2B5EF4-FFF2-40B4-BE49-F238E27FC236}">
                <a16:creationId xmlns:a16="http://schemas.microsoft.com/office/drawing/2014/main" id="{6870D471-894A-ABE7-55F6-4D01268F9AA6}"/>
              </a:ext>
            </a:extLst>
          </p:cNvPr>
          <p:cNvSpPr txBox="1"/>
          <p:nvPr/>
        </p:nvSpPr>
        <p:spPr>
          <a:xfrm>
            <a:off x="6604000" y="1714500"/>
            <a:ext cx="5016500" cy="2369880"/>
          </a:xfrm>
          <a:prstGeom prst="rect">
            <a:avLst/>
          </a:prstGeom>
          <a:noFill/>
        </p:spPr>
        <p:txBody>
          <a:bodyPr vert="horz" wrap="square" lIns="0" tIns="0" rIns="0" bIns="0" rtlCol="0">
            <a:spAutoFit/>
          </a:bodyPr>
          <a:lstStyle/>
          <a:p>
            <a:r>
              <a:rPr lang="fr-FR" sz="2200">
                <a:solidFill>
                  <a:srgbClr val="242424"/>
                </a:solidFill>
                <a:latin typeface="Aptos" panose="020B0004020202020204" pitchFamily="34" charset="0"/>
              </a:rPr>
              <a:t>Rayon moyen : environ 7 a 28
Aire moyenne : 143,5 a 2501
Autres mesures : proches de 0,1
Echelles differentes : standardiser.
Mesures liees : tester l ACP.
Correlation ne signifie pas causalite.</a:t>
            </a:r>
          </a:p>
        </p:txBody>
      </p:sp>
    </p:spTree>
    <p:extLst>
      <p:ext uri="{BB962C8B-B14F-4D97-AF65-F5344CB8AC3E}">
        <p14:creationId xmlns:p14="http://schemas.microsoft.com/office/powerpoint/2010/main" val="948045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28480E-693B-89B5-1B7B-DD6421358191}"/>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06C0073E-0268-3889-AED0-3FD304CF628D}"/>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8. Preparer sans donner les reponses au modele</a:t>
            </a:r>
          </a:p>
        </p:txBody>
      </p:sp>
      <p:sp>
        <p:nvSpPr>
          <p:cNvPr id="4" name="ZoneTexte 3">
            <a:extLst>
              <a:ext uri="{FF2B5EF4-FFF2-40B4-BE49-F238E27FC236}">
                <a16:creationId xmlns:a16="http://schemas.microsoft.com/office/drawing/2014/main" id="{E7B44F78-EE52-5DA5-F7A1-2ED575A5D996}"/>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B80FD638-269B-65C1-EADC-CB48425C554C}"/>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9</a:t>
            </a:r>
          </a:p>
        </p:txBody>
      </p:sp>
      <p:sp>
        <p:nvSpPr>
          <p:cNvPr id="6" name="ZoneTexte 5">
            <a:extLst>
              <a:ext uri="{FF2B5EF4-FFF2-40B4-BE49-F238E27FC236}">
                <a16:creationId xmlns:a16="http://schemas.microsoft.com/office/drawing/2014/main" id="{1A9B33E4-D402-66FA-96DF-89E5B9C8896B}"/>
              </a:ext>
            </a:extLst>
          </p:cNvPr>
          <p:cNvSpPr txBox="1"/>
          <p:nvPr/>
        </p:nvSpPr>
        <p:spPr>
          <a:xfrm>
            <a:off x="508000" y="1778000"/>
            <a:ext cx="11176000" cy="446276"/>
          </a:xfrm>
          <a:prstGeom prst="rect">
            <a:avLst/>
          </a:prstGeom>
          <a:noFill/>
        </p:spPr>
        <p:txBody>
          <a:bodyPr vert="horz" wrap="square" lIns="0" tIns="0" rIns="0" bIns="0" rtlCol="0">
            <a:spAutoFit/>
          </a:bodyPr>
          <a:lstStyle/>
          <a:p>
            <a:r>
              <a:rPr lang="fr-FR" sz="2900" b="1">
                <a:solidFill>
                  <a:srgbClr val="077F83"/>
                </a:solidFill>
                <a:latin typeface="Aptos" panose="020B0004020202020204" pitchFamily="34" charset="0"/>
              </a:rPr>
              <a:t>455 exemples pour apprendre | 114 exemples pour tester</a:t>
            </a:r>
          </a:p>
        </p:txBody>
      </p:sp>
      <p:sp>
        <p:nvSpPr>
          <p:cNvPr id="7" name="ZoneTexte 6">
            <a:extLst>
              <a:ext uri="{FF2B5EF4-FFF2-40B4-BE49-F238E27FC236}">
                <a16:creationId xmlns:a16="http://schemas.microsoft.com/office/drawing/2014/main" id="{36F923F6-134E-F834-BC25-32407D8CECA8}"/>
              </a:ext>
            </a:extLst>
          </p:cNvPr>
          <p:cNvSpPr txBox="1"/>
          <p:nvPr/>
        </p:nvSpPr>
        <p:spPr>
          <a:xfrm>
            <a:off x="508000" y="3111500"/>
            <a:ext cx="11176000" cy="2477601"/>
          </a:xfrm>
          <a:prstGeom prst="rect">
            <a:avLst/>
          </a:prstGeom>
          <a:noFill/>
        </p:spPr>
        <p:txBody>
          <a:bodyPr vert="horz" wrap="square" lIns="0" tIns="0" rIns="0" bIns="0" rtlCol="0">
            <a:spAutoFit/>
          </a:bodyPr>
          <a:lstStyle/>
          <a:p>
            <a:r>
              <a:rPr lang="fr-FR" sz="2300">
                <a:solidFill>
                  <a:srgbClr val="242424"/>
                </a:solidFill>
                <a:latin typeface="Aptos" panose="020B0004020202020204" pitchFamily="34" charset="0"/>
              </a:rPr>
              <a:t>X : 30 mesures, sans target | y : vrai diagnostic
Separation stratifiee : proportions conservees
Graine 42 : tirage reproductible
StandardScaler.fit et PCA.fit : apprentissage seulement
transform : meme regle appliquee au test
La cible reste codee 0/1.</a:t>
            </a:r>
          </a:p>
        </p:txBody>
      </p:sp>
    </p:spTree>
    <p:extLst>
      <p:ext uri="{BB962C8B-B14F-4D97-AF65-F5344CB8AC3E}">
        <p14:creationId xmlns:p14="http://schemas.microsoft.com/office/powerpoint/2010/main" val="4224072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46B7BF-FD11-9DF9-6A49-1E59A5AD63BF}"/>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92AB48F1-7A00-C3E4-4AFA-254ABF9BE329}"/>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9. ACP : compresser les mesures, pas choisir les reponses</a:t>
            </a:r>
          </a:p>
        </p:txBody>
      </p:sp>
      <p:sp>
        <p:nvSpPr>
          <p:cNvPr id="4" name="ZoneTexte 3">
            <a:extLst>
              <a:ext uri="{FF2B5EF4-FFF2-40B4-BE49-F238E27FC236}">
                <a16:creationId xmlns:a16="http://schemas.microsoft.com/office/drawing/2014/main" id="{EF84264F-13B8-B307-1A80-B85B9363A401}"/>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89517EC2-4C76-AD00-8E10-A7B8579767A2}"/>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10</a:t>
            </a:r>
          </a:p>
        </p:txBody>
      </p:sp>
      <p:pic>
        <p:nvPicPr>
          <p:cNvPr id="7" name="Image 6">
            <a:extLst>
              <a:ext uri="{FF2B5EF4-FFF2-40B4-BE49-F238E27FC236}">
                <a16:creationId xmlns:a16="http://schemas.microsoft.com/office/drawing/2014/main" id="{5BCEDC47-C937-B07F-8488-DA13368E2C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1000" y="1990521"/>
            <a:ext cx="6667500" cy="3765959"/>
          </a:xfrm>
          <a:prstGeom prst="rect">
            <a:avLst/>
          </a:prstGeom>
        </p:spPr>
      </p:pic>
      <p:sp>
        <p:nvSpPr>
          <p:cNvPr id="8" name="ZoneTexte 7">
            <a:extLst>
              <a:ext uri="{FF2B5EF4-FFF2-40B4-BE49-F238E27FC236}">
                <a16:creationId xmlns:a16="http://schemas.microsoft.com/office/drawing/2014/main" id="{41F6C709-3B44-769D-ABB4-70B1BF59A35A}"/>
              </a:ext>
            </a:extLst>
          </p:cNvPr>
          <p:cNvSpPr txBox="1"/>
          <p:nvPr/>
        </p:nvSpPr>
        <p:spPr>
          <a:xfrm>
            <a:off x="7493000" y="1841500"/>
            <a:ext cx="4191000" cy="2831544"/>
          </a:xfrm>
          <a:prstGeom prst="rect">
            <a:avLst/>
          </a:prstGeom>
          <a:noFill/>
        </p:spPr>
        <p:txBody>
          <a:bodyPr vert="horz" wrap="square" lIns="0" tIns="0" rIns="0" bIns="0" rtlCol="0">
            <a:spAutoFit/>
          </a:bodyPr>
          <a:lstStyle/>
          <a:p>
            <a:r>
              <a:rPr lang="fr-FR" sz="2300">
                <a:solidFill>
                  <a:srgbClr val="242424"/>
                </a:solidFill>
                <a:latin typeface="Aptos" panose="020B0004020202020204" pitchFamily="34" charset="0"/>
              </a:rPr>
              <a:t>30 mesures -&gt; 10 composantes
95,2 % de variance conservee
Ce n est pas 95,2 % de bonnes predictions.
On compare avec et sans ACP sur le meme test.</a:t>
            </a:r>
          </a:p>
        </p:txBody>
      </p:sp>
    </p:spTree>
    <p:extLst>
      <p:ext uri="{BB962C8B-B14F-4D97-AF65-F5344CB8AC3E}">
        <p14:creationId xmlns:p14="http://schemas.microsoft.com/office/powerpoint/2010/main" val="1399757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BE0C46-50CE-1D8B-E6C6-0F0F1F481F64}"/>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D46FE0B7-F49E-57E1-E21E-62CB23F2F4DB}"/>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10. Lire les matrices de confusion</a:t>
            </a:r>
          </a:p>
        </p:txBody>
      </p:sp>
      <p:sp>
        <p:nvSpPr>
          <p:cNvPr id="4" name="ZoneTexte 3">
            <a:extLst>
              <a:ext uri="{FF2B5EF4-FFF2-40B4-BE49-F238E27FC236}">
                <a16:creationId xmlns:a16="http://schemas.microsoft.com/office/drawing/2014/main" id="{259DAB7B-C34F-971E-893E-35D338E9B9BD}"/>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FDDCFE70-6796-5F65-5EEE-B175E5A16E08}"/>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11</a:t>
            </a:r>
          </a:p>
        </p:txBody>
      </p:sp>
      <p:pic>
        <p:nvPicPr>
          <p:cNvPr id="7" name="Image 6">
            <a:extLst>
              <a:ext uri="{FF2B5EF4-FFF2-40B4-BE49-F238E27FC236}">
                <a16:creationId xmlns:a16="http://schemas.microsoft.com/office/drawing/2014/main" id="{F54F2023-7B68-58EA-5488-BC82CC0C5E0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78840" y="1524000"/>
            <a:ext cx="4592320" cy="3810000"/>
          </a:xfrm>
          <a:prstGeom prst="rect">
            <a:avLst/>
          </a:prstGeom>
        </p:spPr>
      </p:pic>
      <p:pic>
        <p:nvPicPr>
          <p:cNvPr id="9" name="Image 8">
            <a:extLst>
              <a:ext uri="{FF2B5EF4-FFF2-40B4-BE49-F238E27FC236}">
                <a16:creationId xmlns:a16="http://schemas.microsoft.com/office/drawing/2014/main" id="{F56A3FD1-46EA-4E0A-45B0-E44E473E1F7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720840" y="1524000"/>
            <a:ext cx="4592320" cy="3810000"/>
          </a:xfrm>
          <a:prstGeom prst="rect">
            <a:avLst/>
          </a:prstGeom>
        </p:spPr>
      </p:pic>
      <p:sp>
        <p:nvSpPr>
          <p:cNvPr id="10" name="ZoneTexte 9">
            <a:extLst>
              <a:ext uri="{FF2B5EF4-FFF2-40B4-BE49-F238E27FC236}">
                <a16:creationId xmlns:a16="http://schemas.microsoft.com/office/drawing/2014/main" id="{9BE51DA2-3419-AA81-9708-C538A29653CB}"/>
              </a:ext>
            </a:extLst>
          </p:cNvPr>
          <p:cNvSpPr txBox="1"/>
          <p:nvPr/>
        </p:nvSpPr>
        <p:spPr>
          <a:xfrm>
            <a:off x="508000" y="5461000"/>
            <a:ext cx="11176000" cy="307777"/>
          </a:xfrm>
          <a:prstGeom prst="rect">
            <a:avLst/>
          </a:prstGeom>
          <a:noFill/>
        </p:spPr>
        <p:txBody>
          <a:bodyPr vert="horz" wrap="square" lIns="0" tIns="0" rIns="0" bIns="0" rtlCol="0">
            <a:spAutoFit/>
          </a:bodyPr>
          <a:lstStyle/>
          <a:p>
            <a:r>
              <a:rPr lang="fr-FR" sz="2000" b="1">
                <a:solidFill>
                  <a:srgbClr val="077F83"/>
                </a:solidFill>
                <a:latin typeface="Aptos" panose="020B0004020202020204" pitchFamily="34" charset="0"/>
              </a:rPr>
              <a:t>Lignes = realite | Colonnes = prediction | Diagonale = bonnes reponses</a:t>
            </a:r>
          </a:p>
        </p:txBody>
      </p:sp>
      <p:sp>
        <p:nvSpPr>
          <p:cNvPr id="11" name="ZoneTexte 10">
            <a:extLst>
              <a:ext uri="{FF2B5EF4-FFF2-40B4-BE49-F238E27FC236}">
                <a16:creationId xmlns:a16="http://schemas.microsoft.com/office/drawing/2014/main" id="{A9271728-3A93-DCAF-D31A-5E5654FE36C8}"/>
              </a:ext>
            </a:extLst>
          </p:cNvPr>
          <p:cNvSpPr txBox="1"/>
          <p:nvPr/>
        </p:nvSpPr>
        <p:spPr>
          <a:xfrm>
            <a:off x="508000" y="5969000"/>
            <a:ext cx="11176000" cy="292388"/>
          </a:xfrm>
          <a:prstGeom prst="rect">
            <a:avLst/>
          </a:prstGeom>
          <a:noFill/>
        </p:spPr>
        <p:txBody>
          <a:bodyPr vert="horz" wrap="square" lIns="0" tIns="0" rIns="0" bIns="0" rtlCol="0">
            <a:spAutoFit/>
          </a:bodyPr>
          <a:lstStyle/>
          <a:p>
            <a:r>
              <a:rPr lang="fr-FR" sz="1900">
                <a:solidFill>
                  <a:srgbClr val="242424"/>
                </a:solidFill>
                <a:latin typeface="Aptos" panose="020B0004020202020204" pitchFamily="34" charset="0"/>
              </a:rPr>
              <a:t>En bas a gauche : cas malins manques. Sans ACP : 4; avec ACP : 2.</a:t>
            </a:r>
          </a:p>
        </p:txBody>
      </p:sp>
    </p:spTree>
    <p:extLst>
      <p:ext uri="{BB962C8B-B14F-4D97-AF65-F5344CB8AC3E}">
        <p14:creationId xmlns:p14="http://schemas.microsoft.com/office/powerpoint/2010/main" val="2357984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B5354B-7F56-FD31-11B8-EDC4D568F332}"/>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24E8D9C6-5A70-0CAD-18E2-A5A1DC8B002B}"/>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11. Apprentissage et test ne mesurent pas la meme chose</a:t>
            </a:r>
          </a:p>
        </p:txBody>
      </p:sp>
      <p:sp>
        <p:nvSpPr>
          <p:cNvPr id="4" name="ZoneTexte 3">
            <a:extLst>
              <a:ext uri="{FF2B5EF4-FFF2-40B4-BE49-F238E27FC236}">
                <a16:creationId xmlns:a16="http://schemas.microsoft.com/office/drawing/2014/main" id="{E65573EB-26EA-032C-26ED-BD79918961F3}"/>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62752C60-FA9F-ED01-CF28-814E909D63D2}"/>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12</a:t>
            </a:r>
          </a:p>
        </p:txBody>
      </p:sp>
      <p:pic>
        <p:nvPicPr>
          <p:cNvPr id="7" name="Image 6">
            <a:extLst>
              <a:ext uri="{FF2B5EF4-FFF2-40B4-BE49-F238E27FC236}">
                <a16:creationId xmlns:a16="http://schemas.microsoft.com/office/drawing/2014/main" id="{BB5F55FB-D5C9-8BB0-074D-4C5E9DE551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991445"/>
            <a:ext cx="7239000" cy="3573611"/>
          </a:xfrm>
          <a:prstGeom prst="rect">
            <a:avLst/>
          </a:prstGeom>
        </p:spPr>
      </p:pic>
      <p:sp>
        <p:nvSpPr>
          <p:cNvPr id="8" name="ZoneTexte 7">
            <a:extLst>
              <a:ext uri="{FF2B5EF4-FFF2-40B4-BE49-F238E27FC236}">
                <a16:creationId xmlns:a16="http://schemas.microsoft.com/office/drawing/2014/main" id="{1B4E3792-BE87-CD98-8E68-C36A66E00495}"/>
              </a:ext>
            </a:extLst>
          </p:cNvPr>
          <p:cNvSpPr txBox="1"/>
          <p:nvPr/>
        </p:nvSpPr>
        <p:spPr>
          <a:xfrm>
            <a:off x="8255000" y="1905000"/>
            <a:ext cx="3492500" cy="3046988"/>
          </a:xfrm>
          <a:prstGeom prst="rect">
            <a:avLst/>
          </a:prstGeom>
          <a:noFill/>
        </p:spPr>
        <p:txBody>
          <a:bodyPr vert="horz" wrap="square" lIns="0" tIns="0" rIns="0" bIns="0" rtlCol="0">
            <a:spAutoFit/>
          </a:bodyPr>
          <a:lstStyle/>
          <a:p>
            <a:r>
              <a:rPr lang="fr-FR" sz="2200">
                <a:solidFill>
                  <a:srgbClr val="242424"/>
                </a:solidFill>
                <a:latin typeface="Aptos" panose="020B0004020202020204" pitchFamily="34" charset="0"/>
              </a:rPr>
              <a:t>50 passes, eta = 0,01
Les corrections baissent globalement, mais restent non nulles.
Le test est evalue separement avec accuracy, rappel et matrices.</a:t>
            </a:r>
          </a:p>
        </p:txBody>
      </p:sp>
    </p:spTree>
    <p:extLst>
      <p:ext uri="{BB962C8B-B14F-4D97-AF65-F5344CB8AC3E}">
        <p14:creationId xmlns:p14="http://schemas.microsoft.com/office/powerpoint/2010/main" val="3540274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A3A18B-7A56-D60A-B6D6-75876C8572F2}"/>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00F441D3-A587-496A-730A-A7850E277B1B}"/>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12. Comparaison sur les memes 114 exemples</a:t>
            </a:r>
          </a:p>
        </p:txBody>
      </p:sp>
      <p:sp>
        <p:nvSpPr>
          <p:cNvPr id="4" name="ZoneTexte 3">
            <a:extLst>
              <a:ext uri="{FF2B5EF4-FFF2-40B4-BE49-F238E27FC236}">
                <a16:creationId xmlns:a16="http://schemas.microsoft.com/office/drawing/2014/main" id="{A699D738-187F-3D0C-0998-B6EED61C5CF1}"/>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1F59588C-78D1-1DB7-5C9B-D4212448E928}"/>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13</a:t>
            </a:r>
          </a:p>
        </p:txBody>
      </p:sp>
      <p:graphicFrame>
        <p:nvGraphicFramePr>
          <p:cNvPr id="6" name="Tableau 5">
            <a:extLst>
              <a:ext uri="{FF2B5EF4-FFF2-40B4-BE49-F238E27FC236}">
                <a16:creationId xmlns:a16="http://schemas.microsoft.com/office/drawing/2014/main" id="{AFD86D46-C6D9-B2C9-8C2A-20D3CA9D8C7E}"/>
              </a:ext>
            </a:extLst>
          </p:cNvPr>
          <p:cNvGraphicFramePr>
            <a:graphicFrameLocks noGrp="1"/>
          </p:cNvGraphicFramePr>
          <p:nvPr>
            <p:extLst>
              <p:ext uri="{D42A27DB-BD31-4B8C-83A1-F6EECF244321}">
                <p14:modId xmlns:p14="http://schemas.microsoft.com/office/powerpoint/2010/main" val="1991543259"/>
              </p:ext>
            </p:extLst>
          </p:nvPr>
        </p:nvGraphicFramePr>
        <p:xfrm>
          <a:off x="508000" y="1968500"/>
          <a:ext cx="11176000" cy="3048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3483779413"/>
                    </a:ext>
                  </a:extLst>
                </a:gridCol>
                <a:gridCol w="1651000">
                  <a:extLst>
                    <a:ext uri="{9D8B030D-6E8A-4147-A177-3AD203B41FA5}">
                      <a16:colId xmlns:a16="http://schemas.microsoft.com/office/drawing/2014/main" val="4116100094"/>
                    </a:ext>
                  </a:extLst>
                </a:gridCol>
                <a:gridCol w="1651000">
                  <a:extLst>
                    <a:ext uri="{9D8B030D-6E8A-4147-A177-3AD203B41FA5}">
                      <a16:colId xmlns:a16="http://schemas.microsoft.com/office/drawing/2014/main" val="1625360045"/>
                    </a:ext>
                  </a:extLst>
                </a:gridCol>
                <a:gridCol w="1651000">
                  <a:extLst>
                    <a:ext uri="{9D8B030D-6E8A-4147-A177-3AD203B41FA5}">
                      <a16:colId xmlns:a16="http://schemas.microsoft.com/office/drawing/2014/main" val="4189637973"/>
                    </a:ext>
                  </a:extLst>
                </a:gridCol>
                <a:gridCol w="1651000">
                  <a:extLst>
                    <a:ext uri="{9D8B030D-6E8A-4147-A177-3AD203B41FA5}">
                      <a16:colId xmlns:a16="http://schemas.microsoft.com/office/drawing/2014/main" val="3281086363"/>
                    </a:ext>
                  </a:extLst>
                </a:gridCol>
              </a:tblGrid>
              <a:tr h="609600">
                <a:tc>
                  <a:txBody>
                    <a:bodyPr/>
                    <a:lstStyle/>
                    <a:p>
                      <a:r>
                        <a:rPr lang="fr-FR" sz="1600" b="1">
                          <a:solidFill>
                            <a:srgbClr val="FFFFFF"/>
                          </a:solidFill>
                          <a:latin typeface="Aptos" panose="020B0004020202020204" pitchFamily="34" charset="0"/>
                        </a:rPr>
                        <a:t>Modele</a:t>
                      </a:r>
                    </a:p>
                  </a:txBody>
                  <a:tcPr>
                    <a:solidFill>
                      <a:srgbClr val="077F83"/>
                    </a:solidFill>
                  </a:tcPr>
                </a:tc>
                <a:tc>
                  <a:txBody>
                    <a:bodyPr/>
                    <a:lstStyle/>
                    <a:p>
                      <a:r>
                        <a:rPr lang="fr-FR" sz="1600" b="1">
                          <a:solidFill>
                            <a:srgbClr val="FFFFFF"/>
                          </a:solidFill>
                          <a:latin typeface="Aptos" panose="020B0004020202020204" pitchFamily="34" charset="0"/>
                        </a:rPr>
                        <a:t>Accuracy</a:t>
                      </a:r>
                    </a:p>
                  </a:txBody>
                  <a:tcPr>
                    <a:solidFill>
                      <a:srgbClr val="077F83"/>
                    </a:solidFill>
                  </a:tcPr>
                </a:tc>
                <a:tc>
                  <a:txBody>
                    <a:bodyPr/>
                    <a:lstStyle/>
                    <a:p>
                      <a:r>
                        <a:rPr lang="fr-FR" sz="1600" b="1">
                          <a:solidFill>
                            <a:srgbClr val="FFFFFF"/>
                          </a:solidFill>
                          <a:latin typeface="Aptos" panose="020B0004020202020204" pitchFamily="34" charset="0"/>
                        </a:rPr>
                        <a:t>Rappel malin</a:t>
                      </a:r>
                    </a:p>
                  </a:txBody>
                  <a:tcPr>
                    <a:solidFill>
                      <a:srgbClr val="077F83"/>
                    </a:solidFill>
                  </a:tcPr>
                </a:tc>
                <a:tc>
                  <a:txBody>
                    <a:bodyPr/>
                    <a:lstStyle/>
                    <a:p>
                      <a:r>
                        <a:rPr lang="fr-FR" sz="1600" b="1">
                          <a:solidFill>
                            <a:srgbClr val="FFFFFF"/>
                          </a:solidFill>
                          <a:latin typeface="Aptos" panose="020B0004020202020204" pitchFamily="34" charset="0"/>
                        </a:rPr>
                        <a:t>Malins rates</a:t>
                      </a:r>
                    </a:p>
                  </a:txBody>
                  <a:tcPr>
                    <a:solidFill>
                      <a:srgbClr val="077F83"/>
                    </a:solidFill>
                  </a:tcPr>
                </a:tc>
                <a:tc>
                  <a:txBody>
                    <a:bodyPr/>
                    <a:lstStyle/>
                    <a:p>
                      <a:r>
                        <a:rPr lang="fr-FR" sz="1600" b="1">
                          <a:solidFill>
                            <a:srgbClr val="FFFFFF"/>
                          </a:solidFill>
                          <a:latin typeface="Aptos" panose="020B0004020202020204" pitchFamily="34" charset="0"/>
                        </a:rPr>
                        <a:t>Fausses alertes</a:t>
                      </a:r>
                    </a:p>
                  </a:txBody>
                  <a:tcPr>
                    <a:solidFill>
                      <a:srgbClr val="077F83"/>
                    </a:solidFill>
                  </a:tcPr>
                </a:tc>
                <a:extLst>
                  <a:ext uri="{0D108BD9-81ED-4DB2-BD59-A6C34878D82A}">
                    <a16:rowId xmlns:a16="http://schemas.microsoft.com/office/drawing/2014/main" val="1021151243"/>
                  </a:ext>
                </a:extLst>
              </a:tr>
              <a:tr h="609600">
                <a:tc>
                  <a:txBody>
                    <a:bodyPr/>
                    <a:lstStyle/>
                    <a:p>
                      <a:r>
                        <a:rPr lang="fr-FR" sz="1600">
                          <a:solidFill>
                            <a:srgbClr val="242424"/>
                          </a:solidFill>
                          <a:latin typeface="Aptos" panose="020B0004020202020204" pitchFamily="34" charset="0"/>
                        </a:rPr>
                        <a:t>Perceptron sans ACP</a:t>
                      </a:r>
                    </a:p>
                  </a:txBody>
                  <a:tcPr>
                    <a:solidFill>
                      <a:srgbClr val="FFFFFF"/>
                    </a:solidFill>
                  </a:tcPr>
                </a:tc>
                <a:tc>
                  <a:txBody>
                    <a:bodyPr/>
                    <a:lstStyle/>
                    <a:p>
                      <a:r>
                        <a:rPr lang="fr-FR" sz="1600">
                          <a:solidFill>
                            <a:srgbClr val="242424"/>
                          </a:solidFill>
                          <a:latin typeface="Aptos" panose="020B0004020202020204" pitchFamily="34" charset="0"/>
                        </a:rPr>
                        <a:t>94.7 %</a:t>
                      </a:r>
                    </a:p>
                  </a:txBody>
                  <a:tcPr>
                    <a:solidFill>
                      <a:srgbClr val="FFFFFF"/>
                    </a:solidFill>
                  </a:tcPr>
                </a:tc>
                <a:tc>
                  <a:txBody>
                    <a:bodyPr/>
                    <a:lstStyle/>
                    <a:p>
                      <a:r>
                        <a:rPr lang="fr-FR" sz="1600">
                          <a:solidFill>
                            <a:srgbClr val="242424"/>
                          </a:solidFill>
                          <a:latin typeface="Aptos" panose="020B0004020202020204" pitchFamily="34" charset="0"/>
                        </a:rPr>
                        <a:t>90.5 %</a:t>
                      </a:r>
                    </a:p>
                  </a:txBody>
                  <a:tcPr>
                    <a:solidFill>
                      <a:srgbClr val="FFFFFF"/>
                    </a:solidFill>
                  </a:tcPr>
                </a:tc>
                <a:tc>
                  <a:txBody>
                    <a:bodyPr/>
                    <a:lstStyle/>
                    <a:p>
                      <a:r>
                        <a:rPr lang="fr-FR" sz="1600">
                          <a:solidFill>
                            <a:srgbClr val="242424"/>
                          </a:solidFill>
                          <a:latin typeface="Aptos" panose="020B0004020202020204" pitchFamily="34" charset="0"/>
                        </a:rPr>
                        <a:t>4</a:t>
                      </a:r>
                    </a:p>
                  </a:txBody>
                  <a:tcPr>
                    <a:solidFill>
                      <a:srgbClr val="FFFFFF"/>
                    </a:solidFill>
                  </a:tcPr>
                </a:tc>
                <a:tc>
                  <a:txBody>
                    <a:bodyPr/>
                    <a:lstStyle/>
                    <a:p>
                      <a:r>
                        <a:rPr lang="fr-FR" sz="1600">
                          <a:solidFill>
                            <a:srgbClr val="242424"/>
                          </a:solidFill>
                          <a:latin typeface="Aptos" panose="020B0004020202020204" pitchFamily="34" charset="0"/>
                        </a:rPr>
                        <a:t>2</a:t>
                      </a:r>
                    </a:p>
                  </a:txBody>
                  <a:tcPr>
                    <a:solidFill>
                      <a:srgbClr val="FFFFFF"/>
                    </a:solidFill>
                  </a:tcPr>
                </a:tc>
                <a:extLst>
                  <a:ext uri="{0D108BD9-81ED-4DB2-BD59-A6C34878D82A}">
                    <a16:rowId xmlns:a16="http://schemas.microsoft.com/office/drawing/2014/main" val="1207859675"/>
                  </a:ext>
                </a:extLst>
              </a:tr>
              <a:tr h="609600">
                <a:tc>
                  <a:txBody>
                    <a:bodyPr/>
                    <a:lstStyle/>
                    <a:p>
                      <a:r>
                        <a:rPr lang="fr-FR" sz="1600">
                          <a:solidFill>
                            <a:srgbClr val="242424"/>
                          </a:solidFill>
                          <a:latin typeface="Aptos" panose="020B0004020202020204" pitchFamily="34" charset="0"/>
                        </a:rPr>
                        <a:t>Perceptron avec ACP</a:t>
                      </a:r>
                    </a:p>
                  </a:txBody>
                  <a:tcPr>
                    <a:solidFill>
                      <a:srgbClr val="FFFFFF"/>
                    </a:solidFill>
                  </a:tcPr>
                </a:tc>
                <a:tc>
                  <a:txBody>
                    <a:bodyPr/>
                    <a:lstStyle/>
                    <a:p>
                      <a:r>
                        <a:rPr lang="fr-FR" sz="1600">
                          <a:solidFill>
                            <a:srgbClr val="242424"/>
                          </a:solidFill>
                          <a:latin typeface="Aptos" panose="020B0004020202020204" pitchFamily="34" charset="0"/>
                        </a:rPr>
                        <a:t>97.4 %</a:t>
                      </a:r>
                    </a:p>
                  </a:txBody>
                  <a:tcPr>
                    <a:solidFill>
                      <a:srgbClr val="FFFFFF"/>
                    </a:solidFill>
                  </a:tcPr>
                </a:tc>
                <a:tc>
                  <a:txBody>
                    <a:bodyPr/>
                    <a:lstStyle/>
                    <a:p>
                      <a:r>
                        <a:rPr lang="fr-FR" sz="1600">
                          <a:solidFill>
                            <a:srgbClr val="242424"/>
                          </a:solidFill>
                          <a:latin typeface="Aptos" panose="020B0004020202020204" pitchFamily="34" charset="0"/>
                        </a:rPr>
                        <a:t>95.2 %</a:t>
                      </a:r>
                    </a:p>
                  </a:txBody>
                  <a:tcPr>
                    <a:solidFill>
                      <a:srgbClr val="FFFFFF"/>
                    </a:solidFill>
                  </a:tcPr>
                </a:tc>
                <a:tc>
                  <a:txBody>
                    <a:bodyPr/>
                    <a:lstStyle/>
                    <a:p>
                      <a:r>
                        <a:rPr lang="fr-FR" sz="1600">
                          <a:solidFill>
                            <a:srgbClr val="242424"/>
                          </a:solidFill>
                          <a:latin typeface="Aptos" panose="020B0004020202020204" pitchFamily="34" charset="0"/>
                        </a:rPr>
                        <a:t>2</a:t>
                      </a:r>
                    </a:p>
                  </a:txBody>
                  <a:tcPr>
                    <a:solidFill>
                      <a:srgbClr val="FFFFFF"/>
                    </a:solidFill>
                  </a:tcPr>
                </a:tc>
                <a:tc>
                  <a:txBody>
                    <a:bodyPr/>
                    <a:lstStyle/>
                    <a:p>
                      <a:r>
                        <a:rPr lang="fr-FR" sz="1600">
                          <a:solidFill>
                            <a:srgbClr val="242424"/>
                          </a:solidFill>
                          <a:latin typeface="Aptos" panose="020B0004020202020204" pitchFamily="34" charset="0"/>
                        </a:rPr>
                        <a:t>1</a:t>
                      </a:r>
                    </a:p>
                  </a:txBody>
                  <a:tcPr>
                    <a:solidFill>
                      <a:srgbClr val="FFFFFF"/>
                    </a:solidFill>
                  </a:tcPr>
                </a:tc>
                <a:extLst>
                  <a:ext uri="{0D108BD9-81ED-4DB2-BD59-A6C34878D82A}">
                    <a16:rowId xmlns:a16="http://schemas.microsoft.com/office/drawing/2014/main" val="909645956"/>
                  </a:ext>
                </a:extLst>
              </a:tr>
              <a:tr h="609600">
                <a:tc>
                  <a:txBody>
                    <a:bodyPr/>
                    <a:lstStyle/>
                    <a:p>
                      <a:r>
                        <a:rPr lang="fr-FR" sz="1600">
                          <a:solidFill>
                            <a:srgbClr val="242424"/>
                          </a:solidFill>
                          <a:latin typeface="Aptos" panose="020B0004020202020204" pitchFamily="34" charset="0"/>
                        </a:rPr>
                        <a:t>Regression logistique sans ACP</a:t>
                      </a:r>
                    </a:p>
                  </a:txBody>
                  <a:tcPr>
                    <a:solidFill>
                      <a:srgbClr val="FFFFFF"/>
                    </a:solidFill>
                  </a:tcPr>
                </a:tc>
                <a:tc>
                  <a:txBody>
                    <a:bodyPr/>
                    <a:lstStyle/>
                    <a:p>
                      <a:r>
                        <a:rPr lang="fr-FR" sz="1600">
                          <a:solidFill>
                            <a:srgbClr val="242424"/>
                          </a:solidFill>
                          <a:latin typeface="Aptos" panose="020B0004020202020204" pitchFamily="34" charset="0"/>
                        </a:rPr>
                        <a:t>96.5 %</a:t>
                      </a:r>
                    </a:p>
                  </a:txBody>
                  <a:tcPr>
                    <a:solidFill>
                      <a:srgbClr val="FFFFFF"/>
                    </a:solidFill>
                  </a:tcPr>
                </a:tc>
                <a:tc>
                  <a:txBody>
                    <a:bodyPr/>
                    <a:lstStyle/>
                    <a:p>
                      <a:r>
                        <a:rPr lang="fr-FR" sz="1600">
                          <a:solidFill>
                            <a:srgbClr val="242424"/>
                          </a:solidFill>
                          <a:latin typeface="Aptos" panose="020B0004020202020204" pitchFamily="34" charset="0"/>
                        </a:rPr>
                        <a:t>92.9 %</a:t>
                      </a:r>
                    </a:p>
                  </a:txBody>
                  <a:tcPr>
                    <a:solidFill>
                      <a:srgbClr val="FFFFFF"/>
                    </a:solidFill>
                  </a:tcPr>
                </a:tc>
                <a:tc>
                  <a:txBody>
                    <a:bodyPr/>
                    <a:lstStyle/>
                    <a:p>
                      <a:r>
                        <a:rPr lang="fr-FR" sz="1600">
                          <a:solidFill>
                            <a:srgbClr val="242424"/>
                          </a:solidFill>
                          <a:latin typeface="Aptos" panose="020B0004020202020204" pitchFamily="34" charset="0"/>
                        </a:rPr>
                        <a:t>3</a:t>
                      </a:r>
                    </a:p>
                  </a:txBody>
                  <a:tcPr>
                    <a:solidFill>
                      <a:srgbClr val="FFFFFF"/>
                    </a:solidFill>
                  </a:tcPr>
                </a:tc>
                <a:tc>
                  <a:txBody>
                    <a:bodyPr/>
                    <a:lstStyle/>
                    <a:p>
                      <a:r>
                        <a:rPr lang="fr-FR" sz="1600">
                          <a:solidFill>
                            <a:srgbClr val="242424"/>
                          </a:solidFill>
                          <a:latin typeface="Aptos" panose="020B0004020202020204" pitchFamily="34" charset="0"/>
                        </a:rPr>
                        <a:t>1</a:t>
                      </a:r>
                    </a:p>
                  </a:txBody>
                  <a:tcPr>
                    <a:solidFill>
                      <a:srgbClr val="FFFFFF"/>
                    </a:solidFill>
                  </a:tcPr>
                </a:tc>
                <a:extLst>
                  <a:ext uri="{0D108BD9-81ED-4DB2-BD59-A6C34878D82A}">
                    <a16:rowId xmlns:a16="http://schemas.microsoft.com/office/drawing/2014/main" val="1868474648"/>
                  </a:ext>
                </a:extLst>
              </a:tr>
              <a:tr h="609600">
                <a:tc>
                  <a:txBody>
                    <a:bodyPr/>
                    <a:lstStyle/>
                    <a:p>
                      <a:r>
                        <a:rPr lang="fr-FR" sz="1600">
                          <a:solidFill>
                            <a:srgbClr val="242424"/>
                          </a:solidFill>
                          <a:latin typeface="Aptos" panose="020B0004020202020204" pitchFamily="34" charset="0"/>
                        </a:rPr>
                        <a:t>Regression logistique avec ACP</a:t>
                      </a:r>
                    </a:p>
                  </a:txBody>
                  <a:tcPr>
                    <a:solidFill>
                      <a:srgbClr val="FFFFFF"/>
                    </a:solidFill>
                  </a:tcPr>
                </a:tc>
                <a:tc>
                  <a:txBody>
                    <a:bodyPr/>
                    <a:lstStyle/>
                    <a:p>
                      <a:r>
                        <a:rPr lang="fr-FR" sz="1600">
                          <a:solidFill>
                            <a:srgbClr val="242424"/>
                          </a:solidFill>
                          <a:latin typeface="Aptos" panose="020B0004020202020204" pitchFamily="34" charset="0"/>
                        </a:rPr>
                        <a:t>97.4 %</a:t>
                      </a:r>
                    </a:p>
                  </a:txBody>
                  <a:tcPr>
                    <a:solidFill>
                      <a:srgbClr val="FFFFFF"/>
                    </a:solidFill>
                  </a:tcPr>
                </a:tc>
                <a:tc>
                  <a:txBody>
                    <a:bodyPr/>
                    <a:lstStyle/>
                    <a:p>
                      <a:r>
                        <a:rPr lang="fr-FR" sz="1600">
                          <a:solidFill>
                            <a:srgbClr val="242424"/>
                          </a:solidFill>
                          <a:latin typeface="Aptos" panose="020B0004020202020204" pitchFamily="34" charset="0"/>
                        </a:rPr>
                        <a:t>92.9 %</a:t>
                      </a:r>
                    </a:p>
                  </a:txBody>
                  <a:tcPr>
                    <a:solidFill>
                      <a:srgbClr val="FFFFFF"/>
                    </a:solidFill>
                  </a:tcPr>
                </a:tc>
                <a:tc>
                  <a:txBody>
                    <a:bodyPr/>
                    <a:lstStyle/>
                    <a:p>
                      <a:r>
                        <a:rPr lang="fr-FR" sz="1600">
                          <a:solidFill>
                            <a:srgbClr val="242424"/>
                          </a:solidFill>
                          <a:latin typeface="Aptos" panose="020B0004020202020204" pitchFamily="34" charset="0"/>
                        </a:rPr>
                        <a:t>3</a:t>
                      </a:r>
                    </a:p>
                  </a:txBody>
                  <a:tcPr>
                    <a:solidFill>
                      <a:srgbClr val="FFFFFF"/>
                    </a:solidFill>
                  </a:tcPr>
                </a:tc>
                <a:tc>
                  <a:txBody>
                    <a:bodyPr/>
                    <a:lstStyle/>
                    <a:p>
                      <a:r>
                        <a:rPr lang="fr-FR" sz="1600">
                          <a:solidFill>
                            <a:srgbClr val="242424"/>
                          </a:solidFill>
                          <a:latin typeface="Aptos" panose="020B0004020202020204" pitchFamily="34" charset="0"/>
                        </a:rPr>
                        <a:t>0</a:t>
                      </a:r>
                    </a:p>
                  </a:txBody>
                  <a:tcPr>
                    <a:solidFill>
                      <a:srgbClr val="FFFFFF"/>
                    </a:solidFill>
                  </a:tcPr>
                </a:tc>
                <a:extLst>
                  <a:ext uri="{0D108BD9-81ED-4DB2-BD59-A6C34878D82A}">
                    <a16:rowId xmlns:a16="http://schemas.microsoft.com/office/drawing/2014/main" val="2973687345"/>
                  </a:ext>
                </a:extLst>
              </a:tr>
            </a:tbl>
          </a:graphicData>
        </a:graphic>
      </p:graphicFrame>
      <p:sp>
        <p:nvSpPr>
          <p:cNvPr id="7" name="ZoneTexte 6">
            <a:extLst>
              <a:ext uri="{FF2B5EF4-FFF2-40B4-BE49-F238E27FC236}">
                <a16:creationId xmlns:a16="http://schemas.microsoft.com/office/drawing/2014/main" id="{5078BD64-04A8-9862-87E1-F46D7CE1043D}"/>
              </a:ext>
            </a:extLst>
          </p:cNvPr>
          <p:cNvSpPr txBox="1"/>
          <p:nvPr/>
        </p:nvSpPr>
        <p:spPr>
          <a:xfrm>
            <a:off x="508000" y="5397500"/>
            <a:ext cx="11176000" cy="384721"/>
          </a:xfrm>
          <a:prstGeom prst="rect">
            <a:avLst/>
          </a:prstGeom>
          <a:noFill/>
        </p:spPr>
        <p:txBody>
          <a:bodyPr vert="horz" wrap="square" lIns="0" tIns="0" rIns="0" bIns="0" rtlCol="0">
            <a:spAutoFit/>
          </a:bodyPr>
          <a:lstStyle/>
          <a:p>
            <a:r>
              <a:rPr lang="fr-FR" sz="2500" b="1">
                <a:solidFill>
                  <a:srgbClr val="077F83"/>
                </a:solidFill>
                <a:latin typeface="Aptos" panose="020B0004020202020204" pitchFamily="34" charset="0"/>
              </a:rPr>
              <a:t>Meme accuracy ne signifie pas memes erreurs.</a:t>
            </a:r>
          </a:p>
        </p:txBody>
      </p:sp>
      <p:sp>
        <p:nvSpPr>
          <p:cNvPr id="8" name="ZoneTexte 7">
            <a:extLst>
              <a:ext uri="{FF2B5EF4-FFF2-40B4-BE49-F238E27FC236}">
                <a16:creationId xmlns:a16="http://schemas.microsoft.com/office/drawing/2014/main" id="{E577DE18-3103-DBF1-6857-11CF4583A80C}"/>
              </a:ext>
            </a:extLst>
          </p:cNvPr>
          <p:cNvSpPr txBox="1"/>
          <p:nvPr/>
        </p:nvSpPr>
        <p:spPr>
          <a:xfrm>
            <a:off x="508000" y="5969000"/>
            <a:ext cx="11176000" cy="292388"/>
          </a:xfrm>
          <a:prstGeom prst="rect">
            <a:avLst/>
          </a:prstGeom>
          <a:noFill/>
        </p:spPr>
        <p:txBody>
          <a:bodyPr vert="horz" wrap="square" lIns="0" tIns="0" rIns="0" bIns="0" rtlCol="0">
            <a:spAutoFit/>
          </a:bodyPr>
          <a:lstStyle/>
          <a:p>
            <a:r>
              <a:rPr lang="fr-FR" sz="1900">
                <a:solidFill>
                  <a:srgbClr val="242424"/>
                </a:solidFill>
                <a:latin typeface="Aptos" panose="020B0004020202020204" pitchFamily="34" charset="0"/>
              </a:rPr>
              <a:t>Les faux negatifs malins et les fausses alertes doivent etre distingues.</a:t>
            </a:r>
          </a:p>
        </p:txBody>
      </p:sp>
    </p:spTree>
    <p:extLst>
      <p:ext uri="{BB962C8B-B14F-4D97-AF65-F5344CB8AC3E}">
        <p14:creationId xmlns:p14="http://schemas.microsoft.com/office/powerpoint/2010/main" val="2464019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7C4A8C-B2C1-5EFD-E72B-0FF4FF07D3D2}"/>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9F43AFBC-1874-6D83-1700-F8031AE593A2}"/>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13. Conclusion, limites et perspectives</a:t>
            </a:r>
          </a:p>
        </p:txBody>
      </p:sp>
      <p:sp>
        <p:nvSpPr>
          <p:cNvPr id="4" name="ZoneTexte 3">
            <a:extLst>
              <a:ext uri="{FF2B5EF4-FFF2-40B4-BE49-F238E27FC236}">
                <a16:creationId xmlns:a16="http://schemas.microsoft.com/office/drawing/2014/main" id="{0B039645-93EA-6517-9344-CAA5F1658BA8}"/>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BED963AA-95E5-602F-C3EE-1F392FFE0E75}"/>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14</a:t>
            </a:r>
          </a:p>
        </p:txBody>
      </p:sp>
      <p:sp>
        <p:nvSpPr>
          <p:cNvPr id="6" name="ZoneTexte 5">
            <a:extLst>
              <a:ext uri="{FF2B5EF4-FFF2-40B4-BE49-F238E27FC236}">
                <a16:creationId xmlns:a16="http://schemas.microsoft.com/office/drawing/2014/main" id="{ADE7FE90-2506-2593-F6BD-59D855C00867}"/>
              </a:ext>
            </a:extLst>
          </p:cNvPr>
          <p:cNvSpPr txBox="1"/>
          <p:nvPr/>
        </p:nvSpPr>
        <p:spPr>
          <a:xfrm>
            <a:off x="508000" y="1714500"/>
            <a:ext cx="11176000" cy="1154162"/>
          </a:xfrm>
          <a:prstGeom prst="rect">
            <a:avLst/>
          </a:prstGeom>
          <a:noFill/>
        </p:spPr>
        <p:txBody>
          <a:bodyPr vert="horz" wrap="square" lIns="0" tIns="0" rIns="0" bIns="0" rtlCol="0">
            <a:spAutoFit/>
          </a:bodyPr>
          <a:lstStyle/>
          <a:p>
            <a:r>
              <a:rPr lang="fr-FR" sz="2500" b="1">
                <a:solidFill>
                  <a:srgbClr val="077F83"/>
                </a:solidFill>
                <a:latin typeface="Aptos" panose="020B0004020202020204" pitchFamily="34" charset="0"/>
              </a:rPr>
              <a:t>Classe developpee, tests fonctionnels et limites expliques
Donnees controlees : pas de nettoyage artificiel
ACP : moins de dimensions et meilleur perceptron sur ce test</a:t>
            </a:r>
          </a:p>
        </p:txBody>
      </p:sp>
      <p:sp>
        <p:nvSpPr>
          <p:cNvPr id="7" name="ZoneTexte 6">
            <a:extLst>
              <a:ext uri="{FF2B5EF4-FFF2-40B4-BE49-F238E27FC236}">
                <a16:creationId xmlns:a16="http://schemas.microsoft.com/office/drawing/2014/main" id="{73BE67CB-B17D-6538-0732-344A528FB723}"/>
              </a:ext>
            </a:extLst>
          </p:cNvPr>
          <p:cNvSpPr txBox="1"/>
          <p:nvPr/>
        </p:nvSpPr>
        <p:spPr>
          <a:xfrm>
            <a:off x="508000" y="3810000"/>
            <a:ext cx="11176000" cy="2031325"/>
          </a:xfrm>
          <a:prstGeom prst="rect">
            <a:avLst/>
          </a:prstGeom>
          <a:noFill/>
        </p:spPr>
        <p:txBody>
          <a:bodyPr vert="horz" wrap="square" lIns="0" tIns="0" rIns="0" bIns="0" rtlCol="0">
            <a:spAutoFit/>
          </a:bodyPr>
          <a:lstStyle/>
          <a:p>
            <a:r>
              <a:rPr lang="fr-FR" sz="2200">
                <a:solidFill>
                  <a:srgbClr val="242424"/>
                </a:solidFill>
                <a:latin typeface="Aptos" panose="020B0004020202020204" pitchFamily="34" charset="0"/>
              </a:rPr>
              <a:t>Limites : petit jeu de reference, un seul tirage, EDA sur tout le jeu.
Les parametres testes ne sont pas prouves optimaux.
Suite : validation croisee stratifiee avec preprocessing dans chaque pli,
puis test final non consulte pendant le developpement.
Aucune validation clinique.</a:t>
            </a:r>
          </a:p>
        </p:txBody>
      </p:sp>
    </p:spTree>
    <p:extLst>
      <p:ext uri="{BB962C8B-B14F-4D97-AF65-F5344CB8AC3E}">
        <p14:creationId xmlns:p14="http://schemas.microsoft.com/office/powerpoint/2010/main" val="3814346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EF54BA-26BB-F0B0-CA74-FD0DBA3540F5}"/>
              </a:ext>
            </a:extLst>
          </p:cNvPr>
          <p:cNvSpPr/>
          <p:nvPr/>
        </p:nvSpPr>
        <p:spPr>
          <a:xfrm>
            <a:off x="0" y="0"/>
            <a:ext cx="12192000" cy="114300"/>
          </a:xfrm>
          <a:prstGeom prst="rect">
            <a:avLst/>
          </a:prstGeom>
          <a:solidFill>
            <a:srgbClr val="077F8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CCCA4B42-3B85-7182-CC54-11E7CD99FDC0}"/>
              </a:ext>
            </a:extLst>
          </p:cNvPr>
          <p:cNvSpPr txBox="1"/>
          <p:nvPr/>
        </p:nvSpPr>
        <p:spPr>
          <a:xfrm>
            <a:off x="508000" y="406400"/>
            <a:ext cx="11176000" cy="461665"/>
          </a:xfrm>
          <a:prstGeom prst="rect">
            <a:avLst/>
          </a:prstGeom>
          <a:noFill/>
        </p:spPr>
        <p:txBody>
          <a:bodyPr vert="horz" wrap="square" lIns="0" tIns="0" rIns="0" bIns="0" rtlCol="0">
            <a:spAutoFit/>
          </a:bodyPr>
          <a:lstStyle/>
          <a:p>
            <a:r>
              <a:rPr lang="fr-FR" sz="3000" b="1">
                <a:solidFill>
                  <a:srgbClr val="242424"/>
                </a:solidFill>
                <a:latin typeface="Aptos" panose="020B0004020202020204" pitchFamily="34" charset="0"/>
              </a:rPr>
              <a:t>14. Sources et livrables</a:t>
            </a:r>
          </a:p>
        </p:txBody>
      </p:sp>
      <p:sp>
        <p:nvSpPr>
          <p:cNvPr id="4" name="ZoneTexte 3">
            <a:extLst>
              <a:ext uri="{FF2B5EF4-FFF2-40B4-BE49-F238E27FC236}">
                <a16:creationId xmlns:a16="http://schemas.microsoft.com/office/drawing/2014/main" id="{2941BE10-E995-6607-887B-3E82BB4DC499}"/>
              </a:ext>
            </a:extLst>
          </p:cNvPr>
          <p:cNvSpPr txBox="1"/>
          <p:nvPr/>
        </p:nvSpPr>
        <p:spPr>
          <a:xfrm>
            <a:off x="508000" y="6477000"/>
            <a:ext cx="104140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BUILDING PERCEPTRON | La Plateforme | Projet pedagogique</a:t>
            </a:r>
          </a:p>
        </p:txBody>
      </p:sp>
      <p:sp>
        <p:nvSpPr>
          <p:cNvPr id="5" name="ZoneTexte 4">
            <a:extLst>
              <a:ext uri="{FF2B5EF4-FFF2-40B4-BE49-F238E27FC236}">
                <a16:creationId xmlns:a16="http://schemas.microsoft.com/office/drawing/2014/main" id="{E00EFB03-6D47-2A86-FAE0-1201F49532B4}"/>
              </a:ext>
            </a:extLst>
          </p:cNvPr>
          <p:cNvSpPr txBox="1"/>
          <p:nvPr/>
        </p:nvSpPr>
        <p:spPr>
          <a:xfrm>
            <a:off x="11430000" y="6477000"/>
            <a:ext cx="444500" cy="153888"/>
          </a:xfrm>
          <a:prstGeom prst="rect">
            <a:avLst/>
          </a:prstGeom>
          <a:noFill/>
        </p:spPr>
        <p:txBody>
          <a:bodyPr vert="horz" wrap="square" lIns="0" tIns="0" rIns="0" bIns="0" rtlCol="0">
            <a:spAutoFit/>
          </a:bodyPr>
          <a:lstStyle/>
          <a:p>
            <a:r>
              <a:rPr lang="fr-FR" sz="1000">
                <a:solidFill>
                  <a:srgbClr val="6C6C6C"/>
                </a:solidFill>
                <a:latin typeface="Aptos" panose="020B0004020202020204" pitchFamily="34" charset="0"/>
              </a:rPr>
              <a:t>15</a:t>
            </a:r>
          </a:p>
        </p:txBody>
      </p:sp>
      <p:sp>
        <p:nvSpPr>
          <p:cNvPr id="6" name="ZoneTexte 5">
            <a:extLst>
              <a:ext uri="{FF2B5EF4-FFF2-40B4-BE49-F238E27FC236}">
                <a16:creationId xmlns:a16="http://schemas.microsoft.com/office/drawing/2014/main" id="{3E0AB905-ED80-F5F6-FB46-0F2B989ACC01}"/>
              </a:ext>
            </a:extLst>
          </p:cNvPr>
          <p:cNvSpPr txBox="1"/>
          <p:nvPr/>
        </p:nvSpPr>
        <p:spPr>
          <a:xfrm>
            <a:off x="508000" y="1651000"/>
            <a:ext cx="11176000" cy="1292662"/>
          </a:xfrm>
          <a:prstGeom prst="rect">
            <a:avLst/>
          </a:prstGeom>
          <a:noFill/>
        </p:spPr>
        <p:txBody>
          <a:bodyPr vert="horz" wrap="square" lIns="0" tIns="0" rIns="0" bIns="0" rtlCol="0">
            <a:spAutoFit/>
          </a:bodyPr>
          <a:lstStyle/>
          <a:p>
            <a:r>
              <a:rPr lang="fr-FR" sz="2100">
                <a:solidFill>
                  <a:srgbClr val="242424"/>
                </a:solidFill>
                <a:latin typeface="Aptos" panose="020B0004020202020204" pitchFamily="34" charset="0"/>
              </a:rPr>
              <a:t>Rosenblatt (1958), The Perceptron : doi.org/10.1037/h0042519
UCI, Breast Cancer Wisconsin (Diagnostic) : doi.org/10.24432/C5DW2B
scikit-learn : donnees, StandardScaler, PCA, evaluation, LogisticRegression
References completes et installation dans README.md</a:t>
            </a:r>
          </a:p>
        </p:txBody>
      </p:sp>
      <p:sp>
        <p:nvSpPr>
          <p:cNvPr id="7" name="ZoneTexte 6">
            <a:extLst>
              <a:ext uri="{FF2B5EF4-FFF2-40B4-BE49-F238E27FC236}">
                <a16:creationId xmlns:a16="http://schemas.microsoft.com/office/drawing/2014/main" id="{B548C28D-E803-6770-18BE-552F45475DED}"/>
              </a:ext>
            </a:extLst>
          </p:cNvPr>
          <p:cNvSpPr txBox="1"/>
          <p:nvPr/>
        </p:nvSpPr>
        <p:spPr>
          <a:xfrm>
            <a:off x="508000" y="4191000"/>
            <a:ext cx="11176000" cy="1415772"/>
          </a:xfrm>
          <a:prstGeom prst="rect">
            <a:avLst/>
          </a:prstGeom>
          <a:noFill/>
        </p:spPr>
        <p:txBody>
          <a:bodyPr vert="horz" wrap="square" lIns="0" tIns="0" rIns="0" bIns="0" rtlCol="0">
            <a:spAutoFit/>
          </a:bodyPr>
          <a:lstStyle/>
          <a:p>
            <a:r>
              <a:rPr lang="fr-FR" sz="2300">
                <a:solidFill>
                  <a:srgbClr val="077F83"/>
                </a:solidFill>
                <a:latin typeface="Aptos" panose="020B0004020202020204" pitchFamily="34" charset="0"/>
              </a:rPr>
              <a:t>perceptron.py : classe NumPy
eda.ipynb : notebook unique, propre et interprete
README.md : contexte, analyse, outils, conclusion, bibliographie
Slide/ : presentation PPTX et PDF | doc/ : reponses en PDF</a:t>
            </a:r>
          </a:p>
        </p:txBody>
      </p:sp>
    </p:spTree>
    <p:extLst>
      <p:ext uri="{BB962C8B-B14F-4D97-AF65-F5344CB8AC3E}">
        <p14:creationId xmlns:p14="http://schemas.microsoft.com/office/powerpoint/2010/main" val="236890465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1764</Words>
  <Application>Microsoft Office PowerPoint</Application>
  <PresentationFormat>Personnalisé</PresentationFormat>
  <Paragraphs>127</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lucien nzeutom</dc:creator>
  <cp:lastModifiedBy>lucien nzeutom</cp:lastModifiedBy>
  <cp:revision>1</cp:revision>
  <dcterms:created xsi:type="dcterms:W3CDTF">2026-10-08T09:40:38Z</dcterms:created>
  <dcterms:modified xsi:type="dcterms:W3CDTF">2026-10-08T09:40:38Z</dcterms:modified>
</cp:coreProperties>
</file>